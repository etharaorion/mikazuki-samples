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6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Our school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62B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ELA</c:v>
                </c:pt>
                <c:pt idx="1">
                  <c:v>Math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40.9</c:v>
                </c:pt>
                <c:pt idx="1">
                  <c:v>35.4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086-4296-B35B-FD8E14C3E2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State avg.</c:v>
                </c:pt>
              </c:strCache>
            </c:strRef>
          </c:tx>
          <c:spPr>
            <a:solidFill>
              <a:srgbClr val="C8A24B"/>
            </a:solidFill>
            <a:ln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62B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ELA</c:v>
                </c:pt>
                <c:pt idx="1">
                  <c:v>Math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46.2</c:v>
                </c:pt>
                <c:pt idx="1">
                  <c:v>42.1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086-4296-B35B-FD8E14C3E2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>
                <a:solidFill>
                  <a:srgbClr val="262B3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"/>
          <c:min val="0"/>
        </c:scaling>
        <c:delete val="0"/>
        <c:axPos val="l"/>
        <c:majorGridlines>
          <c:spPr>
            <a:ln w="6350">
              <a:solidFill>
                <a:srgbClr val="ECEF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480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ELA</c:v>
                </c:pt>
              </c:strCache>
            </c:strRef>
          </c:tx>
          <c:spPr>
            <a:ln w="33020">
              <a:solidFill>
                <a:srgbClr val="1F3A5F"/>
              </a:solidFill>
            </a:ln>
          </c:spPr>
          <c:marker>
            <c:symbol val="circle"/>
            <c:size val="7"/>
            <c:spPr>
              <a:solidFill>
                <a:srgbClr val="1F3A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goal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33.799999999999997</c:v>
                </c:pt>
                <c:pt idx="1">
                  <c:v>36.1</c:v>
                </c:pt>
                <c:pt idx="2">
                  <c:v>38.200000000000003</c:v>
                </c:pt>
                <c:pt idx="3">
                  <c:v>40.9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0D-47D8-895F-97E310F2B3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Math</c:v>
                </c:pt>
              </c:strCache>
            </c:strRef>
          </c:tx>
          <c:spPr>
            <a:ln w="33020">
              <a:solidFill>
                <a:srgbClr val="C8A24B"/>
              </a:solidFill>
            </a:ln>
          </c:spPr>
          <c:marker>
            <c:symbol val="circle"/>
            <c:size val="7"/>
            <c:spPr>
              <a:solidFill>
                <a:srgbClr val="C8A24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goal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29.5</c:v>
                </c:pt>
                <c:pt idx="1">
                  <c:v>31.8</c:v>
                </c:pt>
                <c:pt idx="2">
                  <c:v>33.6</c:v>
                </c:pt>
                <c:pt idx="3">
                  <c:v>35.4</c:v>
                </c:pt>
                <c:pt idx="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0D-47D8-895F-97E310F2B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>
                <a:solidFill>
                  <a:srgbClr val="262B33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5"/>
          <c:min val="0"/>
        </c:scaling>
        <c:delete val="0"/>
        <c:axPos val="l"/>
        <c:majorGridlines>
          <c:spPr>
            <a:ln w="6350">
              <a:solidFill>
                <a:srgbClr val="ECEF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480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Suspensions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492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03F-4D31-BEC2-1F134F583A90}"/>
              </c:ext>
            </c:extLst>
          </c:dPt>
          <c:dPt>
            <c:idx val="1"/>
            <c:invertIfNegative val="1"/>
            <c:bubble3D val="0"/>
            <c:spPr>
              <a:solidFill>
                <a:srgbClr val="C0492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03F-4D31-BEC2-1F134F583A90}"/>
              </c:ext>
            </c:extLst>
          </c:dPt>
          <c:dPt>
            <c:idx val="2"/>
            <c:invertIfNegative val="1"/>
            <c:bubble3D val="0"/>
            <c:spPr>
              <a:solidFill>
                <a:srgbClr val="2E7D5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03F-4D31-BEC2-1F134F583A90}"/>
              </c:ext>
            </c:extLst>
          </c:dPt>
          <c:dPt>
            <c:idx val="3"/>
            <c:invertIfNegative val="1"/>
            <c:bubble3D val="0"/>
            <c:spPr>
              <a:solidFill>
                <a:srgbClr val="2E7D5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303F-4D31-BEC2-1F134F583A90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62B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2022-23</c:v>
                </c:pt>
                <c:pt idx="1">
                  <c:v>2023-24</c:v>
                </c:pt>
                <c:pt idx="2">
                  <c:v>2024-25</c:v>
                </c:pt>
                <c:pt idx="3">
                  <c:v>YTD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25</c:v>
                </c:pt>
                <c:pt idx="2">
                  <c:v>18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3F-4D31-BEC2-1F134F583A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>
                <a:solidFill>
                  <a:srgbClr val="262B3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0"/>
        <c:axPos val="l"/>
        <c:majorGridlines>
          <c:spPr>
            <a:ln w="6350">
              <a:solidFill>
                <a:srgbClr val="ECEF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480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A24B"/>
                </a:solidFill>
                <a:latin typeface="Segoe UI"/>
              </a:rPr>
              <a:t>FALL DATA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74519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Staff Welcome &amp; Data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7E0EE"/>
                </a:solidFill>
                <a:latin typeface="Segoe UI"/>
              </a:rPr>
              <a:t>Hold the line, grow the practice - SY 2026-2027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92040"/>
            <a:ext cx="7498079" cy="18288"/>
          </a:xfrm>
          <a:prstGeom prst="rect">
            <a:avLst/>
          </a:prstGeom>
          <a:solidFill>
            <a:srgbClr val="3A5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Bridgeport Avenue Elementary School  ·  West End, Hartford 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Fall Professional Development  ·  October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Shanice R. Giles, Principal  ·  418 students, K-5  ·  Title I schoolwide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OUR STARTING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Where We Stand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A5F"/>
                </a:solidFill>
                <a:latin typeface="Segoe UI"/>
              </a:rPr>
              <a:t>418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Students enrolled, K-5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4899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673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7D5B"/>
                </a:solidFill>
                <a:latin typeface="Segoe UI"/>
              </a:rPr>
              <a:t>40.9%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87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ELA proficiency (Spring 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280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A24B"/>
                </a:solidFill>
                <a:latin typeface="Segoe UI"/>
              </a:rPr>
              <a:t>35.4%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194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Math proficiency (Spring 2025)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113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113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7887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74B78"/>
                </a:solidFill>
                <a:latin typeface="Segoe UI"/>
              </a:rPr>
              <a:t>78%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801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Free or reduced-price lunch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71800"/>
            <a:ext cx="5760720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8952" y="320954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317296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Proficiency vs. State (2025)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520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Percent at or above grade level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22960" y="3611880"/>
          <a:ext cx="52120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537960" y="2971800"/>
            <a:ext cx="514807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12280" y="32461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5160" y="3209544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Reading our starting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721608"/>
            <a:ext cx="4709160" cy="2313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We trail the state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but the gap is narrowing for the third year running.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78% high-need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every number here is a child facing real barriers.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This is our floor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not our ceiling - the trend is ours to bend.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Data, not blame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we read these numbers to plan, never to shame.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THE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Reading the Three-Year Trend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858000" cy="4846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60934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72768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Proficiency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Spring summative, school-wide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2148840"/>
          <a:ext cx="6263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1371600"/>
            <a:ext cx="4050791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09560" y="16459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609344"/>
            <a:ext cx="35021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What the lines tell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121408"/>
            <a:ext cx="3611879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+7.1 pts ELA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gained across three years of structured literacy.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Math is moving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stronger questioning and data planning are working.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2026 goals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45% ELA, 40% Math - ambitious and reachable.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Consistency wins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the gains come from doing the same right things, daily.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CLIMATE &amp; 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Attendance &amp; 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852160" cy="4846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60934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727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Out-of-School Suspensions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Restorative practices, by year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" y="2194560"/>
          <a:ext cx="52120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37960" y="1463040"/>
            <a:ext cx="1716024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1627632"/>
            <a:ext cx="64008" cy="996695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5704" y="1645920"/>
            <a:ext cx="1350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7D5B"/>
                </a:solidFill>
                <a:latin typeface="Segoe UI"/>
              </a:rPr>
              <a:t>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249424"/>
            <a:ext cx="1304544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Chronic absenteeism, down from 3.1%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3984" y="1463040"/>
            <a:ext cx="1716024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53984" y="1627632"/>
            <a:ext cx="64008" cy="996695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91728" y="1645920"/>
            <a:ext cx="1350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A5F"/>
                </a:solidFill>
                <a:latin typeface="Segoe UI"/>
              </a:rPr>
              <a:t>−34%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0872" y="2249424"/>
            <a:ext cx="1304544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Suspensions vs. two years 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70008" y="1463040"/>
            <a:ext cx="1716024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70008" y="1627632"/>
            <a:ext cx="64008" cy="996695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07752" y="1645920"/>
            <a:ext cx="1350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A24B"/>
                </a:solidFill>
                <a:latin typeface="Segoe UI"/>
              </a:rPr>
              <a:t>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6896" y="2249424"/>
            <a:ext cx="1304544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Avg. parent council attendance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971800"/>
            <a:ext cx="514807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12280" y="32461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60" y="3209544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What's driving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721608"/>
            <a:ext cx="4709160" cy="2313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Restorative first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we repair harm and teach, before we exclude.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Attendance is equity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 child not here cannot learn - outreach is everyone's job.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Routines hold culture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consistent, dignified routines in every room, K-5.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Every child a champion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that is the whole job, and it is working.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OUR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Our Priorities This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543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8288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23160"/>
            <a:ext cx="49514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Literacy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52928"/>
            <a:ext cx="4951476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Structured literacy in every classroom, K-5, with fidelity. Reading is our north star.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554480"/>
            <a:ext cx="54543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1636" y="155448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87668" y="18288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7668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423160"/>
            <a:ext cx="49514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Math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7668" y="2852928"/>
            <a:ext cx="4951476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Stronger questioning, real discussion, and grade-level data planning every week.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54543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8952" y="420624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800600"/>
            <a:ext cx="49514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230368"/>
            <a:ext cx="4951476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Proactive outreach so every child misses fewer than nine days this year.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931920"/>
            <a:ext cx="54543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31636" y="393192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87668" y="420624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87668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7668" y="4800600"/>
            <a:ext cx="49514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Culture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7668" y="5230368"/>
            <a:ext cx="4951476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Restorative practices, consistent routines, and dignity for every student.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THE INSTRUCTIONAL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Our Literacy Plan, K-5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480"/>
                </a:solidFill>
                <a:latin typeface="Segoe UI"/>
              </a:rPr>
              <a:t>Non-negotiables for every classroom, every day.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Block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Time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Focus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How we'll know it's working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Foundational skills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Phonics, decoding (K-2 core)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Mastery checks every 2 weeks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Knowledge &amp; vocabulary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45 min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Read-alouds, content text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Exit tickets, oral retell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Small-group / intervention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Data-driven groups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Bi-weekly grouping review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Independent reading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20 min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Leveled, high-interest books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Reading logs, conferring notes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Writing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Write about reading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Quarterly writing samples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OPERATING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How We Work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The expectations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5047488" cy="3822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Lesson plans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to Valerie Moss by 8:00 AM Monday, every week.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Grade-level planning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Wednesdays 2:00-3:00 PM - attendance required.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Data meetings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every six weeks; bring your assessment binder.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Walkthroughs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frequent, short, supportive - feedback within 24 hours.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Family contact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two positive calls per teacher each week.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73952" y="173736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1700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How I'll support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12848"/>
            <a:ext cx="5047488" cy="3822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My door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is open at 7:00 AM most mornings - come early, come often.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Coverage &amp; subs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report needs to the office by 7:15 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Supplies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Title I orders through the front office; ask, don't go without.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Wellness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take your lunch; a rested teacher is a better teacher.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Voice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this is our school - bring ideas, not just problems.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LOOKING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This Fall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881360" cy="32004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7340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Oct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Fall Festival</a:t>
            </a:r>
          </a:p>
        </p:txBody>
      </p:sp>
      <p:sp>
        <p:nvSpPr>
          <p:cNvPr id="11" name="Oval 10"/>
          <p:cNvSpPr/>
          <p:nvPr/>
        </p:nvSpPr>
        <p:spPr>
          <a:xfrm>
            <a:off x="3790188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Nov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Fall benchmark data</a:t>
            </a:r>
          </a:p>
        </p:txBody>
      </p:sp>
      <p:sp>
        <p:nvSpPr>
          <p:cNvPr id="14" name="Oval 13"/>
          <p:cNvSpPr/>
          <p:nvPr/>
        </p:nvSpPr>
        <p:spPr>
          <a:xfrm>
            <a:off x="6003036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5775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Nov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5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Veterans Day Assembly</a:t>
            </a:r>
          </a:p>
        </p:txBody>
      </p:sp>
      <p:sp>
        <p:nvSpPr>
          <p:cNvPr id="17" name="Oval 16"/>
          <p:cNvSpPr/>
          <p:nvPr/>
        </p:nvSpPr>
        <p:spPr>
          <a:xfrm>
            <a:off x="8215883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8624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Nov 17-18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Parent Conferences</a:t>
            </a:r>
          </a:p>
        </p:txBody>
      </p:sp>
      <p:sp>
        <p:nvSpPr>
          <p:cNvPr id="20" name="Oval 19"/>
          <p:cNvSpPr/>
          <p:nvPr/>
        </p:nvSpPr>
        <p:spPr>
          <a:xfrm>
            <a:off x="10428731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91471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Dec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1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Holiday Concert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1118311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388620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849624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What's coming and what we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61688"/>
            <a:ext cx="10744200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Benchmark window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Fall benchmark data sets our first intervention groups - guard the testing schedule.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Conferences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every family gets a slot; we aim for 90% turnout, two evenings.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Open enrollment of ideas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grade teams pitch one family-engagement event for the year.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Reach me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front office, my cell on the staff sheet, or just catch me at carline.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Staff Welcome &amp; Data Review  ·  SY 2026-2027  ·  Shanice R. Giles, Principal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Every child here deserves
a champion. That's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We hold the line on what's working and grow the practice together.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The data is our floor, not our ceiling - and the trend is ours to bend.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Thank you for choosing this work, and these children. Let's have a great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6949440" cy="868680"/>
          </a:xfrm>
          <a:prstGeom prst="roundRect">
            <a:avLst>
              <a:gd name="adj" fmla="val 12000"/>
            </a:avLst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413248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Shanice R. Giles, Principal  ·  Bridgeport Avenue Elementary
Open door at 7:00 AM  ·  Main office (860) 555-0300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960</Words>
  <Application>Microsoft Office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 Bhushan</cp:lastModifiedBy>
  <cp:revision>2</cp:revision>
  <dcterms:created xsi:type="dcterms:W3CDTF">2013-01-27T09:14:16Z</dcterms:created>
  <dcterms:modified xsi:type="dcterms:W3CDTF">2026-07-02T10:55:21Z</dcterms:modified>
  <cp:category/>
</cp:coreProperties>
</file>