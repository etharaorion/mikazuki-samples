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E67E22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Betweenness
Only</c:v>
                </c:pt>
                <c:pt idx="1">
                  <c:v>Closeness
Only</c:v>
                </c:pt>
                <c:pt idx="2">
                  <c:v>Clustering
Only</c:v>
                </c:pt>
                <c:pt idx="3">
                  <c:v>Top 5
Features</c:v>
                </c:pt>
                <c:pt idx="4">
                  <c:v>All 14
Features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</c:v>
                </c:pt>
                <c:pt idx="1">
                  <c:v>0.65</c:v>
                </c:pt>
                <c:pt idx="2">
                  <c:v>0.61</c:v>
                </c:pt>
                <c:pt idx="3">
                  <c:v>0.8</c:v>
                </c:pt>
                <c:pt idx="4">
                  <c:v>0.84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1C-450A-8EA5-6ABC13EF7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Conservation (%)</c:v>
                </c:pt>
              </c:strCache>
            </c:strRef>
          </c:tx>
          <c:spPr>
            <a:solidFill>
              <a:srgbClr val="E67E22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Bacteria</c:v>
                </c:pt>
                <c:pt idx="1">
                  <c:v>Yeast</c:v>
                </c:pt>
                <c:pt idx="2">
                  <c:v>Mouse</c:v>
                </c:pt>
                <c:pt idx="3">
                  <c:v>Human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81</c:v>
                </c:pt>
                <c:pt idx="3">
                  <c:v>89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B6-42C5-9097-3AE75AF044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Allosteric Regulation in Protein Interaction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67E22"/>
                </a:solidFill>
              </a:rPr>
              <a:t>Topology, Dynamics, and Predictive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651760"/>
            <a:ext cx="57881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</a:rPr>
              <a:t>Dorothy Langston, Ph.D.  and  Elena Voss, Ph.D.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Haverstone University  |  Ridgemont 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Computational Biology Winter Symposium  |  Cambridge, MA  |  January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7E22"/>
                </a:solidFill>
              </a:rPr>
              <a:t>Supported by Whitfield Foundation WFS-2024-0417 and NGC NGC-2025-1182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The Challenge: Predicting Allosteric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Allostery is ubiquitous in biology, yet mechanistically opaque: binding at one site changes function at a spatially distant site.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Classical biophysics models fail for multi-subunit assemblies where indirect, long-range coupling paths dominate.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Existing computational approaches require expensive molecular dynamics simulations, limiting throughput to single proteins.</a:t>
            </a:r>
          </a:p>
        </p:txBody>
      </p:sp>
      <p:sp>
        <p:nvSpPr>
          <p:cNvPr id="5" name="Oval 4"/>
          <p:cNvSpPr/>
          <p:nvPr/>
        </p:nvSpPr>
        <p:spPr>
          <a:xfrm>
            <a:off x="8686800" y="228600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0" y="164592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155680" y="256032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0" y="365760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0" y="384048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6720" y="3017520"/>
            <a:ext cx="365760" cy="36576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8869680" y="1828800"/>
            <a:ext cx="1371600" cy="64008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241280" y="1828800"/>
            <a:ext cx="1097279" cy="91440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698480" y="2743200"/>
            <a:ext cx="640079" cy="109728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326880" y="3840480"/>
            <a:ext cx="1371600" cy="18288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8229600" y="3200400"/>
            <a:ext cx="1097280" cy="82296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29600" y="2468880"/>
            <a:ext cx="640080" cy="73152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41280" y="1828800"/>
            <a:ext cx="457200" cy="201168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2468880"/>
            <a:ext cx="1828800" cy="137160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Protein interaction network schematic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Clinical and Scientific Significance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347472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~60%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of known allosteric proteins are implicated in cancer or metabolic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1051560"/>
            <a:ext cx="347472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0520" y="1188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 in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87451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approved small-molecule drugs act via allosteric mechanisms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051560"/>
            <a:ext cx="347472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188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$2.1B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1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invested globally in allosteric drug discovery per year (2023 estimate)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7180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Despite its biomedical importance, allosteric regulation remains difficult to predict from sequence or structure alone. Our work addresses this gap by reframing allostery as a network-level property, enabling computational prediction at proteome scale. Accurate allosteric site prediction would accelerate structure-guided drug design, reduce screening costs, and open new therapeutic windows in diseases where orthosteric sites are undruggable.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Background: Allosteric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57784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557784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14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Network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Graph-theoretic features (betweenness centrality, clustering coefficient) encode communication pathways.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60120"/>
            <a:ext cx="557784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557784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10149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Conformational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46304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Binding events propagate through elastic network modes, detectable via normal mode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557784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657600"/>
            <a:ext cx="557784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712463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Cross-Species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605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Conserved allosteric hubs across distant species indicate functional importance and evolutionary pressure.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57600"/>
            <a:ext cx="557784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57784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59" y="3712463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Druggability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416052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Allosteric pockets are often cryptic, requiring dynamic simulation or network analysis to identify.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Data Sources and Computational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8288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PDB + AlloSigMA
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0"/>
            <a:ext cx="1371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331720" y="1188720"/>
            <a:ext cx="18288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Graph
Construction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0"/>
            <a:ext cx="1371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97680" y="1188720"/>
            <a:ext cx="18288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Feature
Extraction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0"/>
            <a:ext cx="1371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263640" y="1188720"/>
            <a:ext cx="18288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ML Model
Training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2440" y="0"/>
            <a:ext cx="13716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29600" y="1188720"/>
            <a:ext cx="18288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Site
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24028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Dataset: 78 protein complexes with confirmed allosteric sites (PDB + AlloSigMA v2, curated Jan 2025 - Oct 2026).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Graph construction: residue contact networks at 5 A cutoff; nodes = residues, edges = van der Waals contacts.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Features: 14 topological descriptors per residue (betweenness, closeness, eigenvector centrality, clustering, etc.).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Model: gradient boosted trees (XGBoost); 5-fold cross-validation; held-out test set of 12 complexes.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Pipeline (AlloNet v2.0) available open-source on GitHub.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Finding 1: Topological Hubs Predict Allosteric Sites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0584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3716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Betweenness centrality alone achieves 0.78 AUC in allosteric site prediction.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Combining 14 topological features raises AUC to 0.84 on held-out test set.</a:t>
            </a:r>
          </a:p>
          <a:p>
            <a:pPr algn="l"/>
            <a:r>
              <a:rPr sz="1300" b="0">
                <a:solidFill>
                  <a:srgbClr val="222222"/>
                </a:solidFill>
              </a:rPr>
              <a:t>Hub residues (top 10% centrality) are 4.2x more likely to be allosteric sites than peripheral residues.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Finding 2: Cross-Species Conservation of Allosteric Pathways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005840"/>
          <a:ext cx="103327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</a:rPr>
              <a:t>Percentage of allosteric pathways conserved relative to human ortholog. n=24 protein families across 4 organisms.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Finding 3: Network Rewiring in Disease-Associated Variants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Protein Complex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Network Change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Clinical Association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p.R175H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p53 tetramer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Loss of hub at Arg175; -38% betweenness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Li-Fraumeni syndrome, multiple cancers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p.G12D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Ras-Raf-MEK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New edge cluster at G12; +52% path density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KRAS-driven pancreatic adenocarcinoma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p.V617F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JAK2-STAT5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Rewired activation loop; hub shift to F617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Myeloproliferative neoplasms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p.L858R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EGFR kinase dimer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Stabilized dimer interface; allosteric pocket lost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</a:rPr>
                        <a:t>Non-small-cell lung carcinoma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Predictive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360" y="1005840"/>
            <a:ext cx="6400800" cy="6583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71800" y="1078992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40" y="111556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Protein structure (PDB) + 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64208"/>
            <a:ext cx="9144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80360" y="1773936"/>
            <a:ext cx="6400800" cy="65836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847088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883664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Residue contact graph construction (AlloNet)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432304"/>
            <a:ext cx="9144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2542032"/>
            <a:ext cx="6400800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2615184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651760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14-feature topological fingerprint per residue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200400"/>
            <a:ext cx="9144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80360" y="3310128"/>
            <a:ext cx="6400800" cy="65836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3383280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3419856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XGBoost classifier (5-fold CV)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968496"/>
            <a:ext cx="9144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0360" y="4078224"/>
            <a:ext cx="6400800" cy="6583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4151376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4187952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Per-residue allosteric probability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92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</a:rPr>
              <a:t>Final model accuracy: 84% AUC on held-out test set (12 protein complexes, 4,200 residues).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Experimental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07899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Complex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Predicted Site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Confirmed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Calmodulin-CaMKII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Thr286 / Arg296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HDX-MS, mutagenesis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p53 tetramer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Arg175 hub cluster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NMR chemical shift perturbation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Ras-Raf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Helix 3 - switch II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FRET-based conformational assay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EGFR kinase dimer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T766 back pocket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</a:rPr>
                        <a:t>X-ray crystallography, ITC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Implications and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48640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Immediate Implications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Topology-based features provide strong allosteric site signal without molecular dynamics.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Conservation across species validates network-centric view of allostery.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Disease variant rewiring is detectable computationally - enabling rapid variant triage.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AlloNet pipeline is freely available and applicable to any protein complex in PDB.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778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</a:rPr>
              <a:t>Expand dataset to 200+ complexes with experimental validation (Year 3, Whitfield grant).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Integrate RNA-protein interaction networks into the framework.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Collaborate with medicinal chemistry group for prospective allosteric drug candidate selection.</a:t>
            </a:r>
          </a:p>
          <a:p>
            <a:pPr algn="l"/>
            <a:r>
              <a:rPr sz="1200" b="0">
                <a:solidFill>
                  <a:srgbClr val="222222"/>
                </a:solidFill>
              </a:rPr>
              <a:t>Submit AlloNet manuscript to Nature Methods (target: February 2027).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Acknowledgments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828800"/>
            <a:ext cx="6702552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Langston Lab: Dr. Ryan Kirkland, Dr. Sarah Okonkwo, Wei Chen, M. Torres, A. Patel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Collaborator: Dr. Elena Voss, Ridgemont Institute</a:t>
            </a:r>
          </a:p>
          <a:p>
            <a:pPr algn="ctr"/>
            <a:endParaRPr sz="1400" b="0">
              <a:solidFill>
                <a:srgbClr val="FFFFFF"/>
              </a:solidFill>
            </a:endParaRPr>
          </a:p>
          <a:p>
            <a:pPr algn="ctr"/>
            <a:r>
              <a:rPr sz="1400" b="0">
                <a:solidFill>
                  <a:srgbClr val="FFFFFF"/>
                </a:solidFill>
              </a:rPr>
              <a:t>Funding: Whitfield Foundation for Science (WFS-2024-0417, $420,000)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Funding: National Genomics Consortium (NGC-2025-1182, $285,000)</a:t>
            </a:r>
          </a:p>
          <a:p>
            <a:pPr algn="ctr"/>
            <a:endParaRPr sz="1400" b="0">
              <a:solidFill>
                <a:srgbClr val="FFFFFF"/>
              </a:solidFill>
            </a:endParaRPr>
          </a:p>
          <a:p>
            <a:pPr algn="ctr"/>
            <a:r>
              <a:rPr sz="1400" b="0">
                <a:solidFill>
                  <a:srgbClr val="FFFFFF"/>
                </a:solidFill>
              </a:rPr>
              <a:t>dorothy.langston@Finthesiss.ai  |  Haverstone University  |  Department of Computational Biology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846</Words>
  <Application>Microsoft Office PowerPoint</Application>
  <PresentationFormat>Custom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BHARAT BHUSHAN</dc:creator>
  <cp:keywords/>
  <dc:description>generated using python-pptx</dc:description>
  <cp:lastModifiedBy>Bharat Bhushan</cp:lastModifiedBy>
  <cp:revision>2</cp:revision>
  <dcterms:created xsi:type="dcterms:W3CDTF">2013-01-27T09:14:16Z</dcterms:created>
  <dcterms:modified xsi:type="dcterms:W3CDTF">2026-06-29T11:40:33Z</dcterms:modified>
  <cp:category/>
</cp:coreProperties>
</file>