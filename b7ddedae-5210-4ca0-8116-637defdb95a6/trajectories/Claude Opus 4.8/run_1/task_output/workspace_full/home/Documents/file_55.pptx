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2377440" cy="4572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08D57"/>
                </a:solidFill>
                <a:latin typeface="Georgia"/>
              </a:rPr>
              <a:t>EXHIBITION BOARD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42416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3EAD8"/>
                </a:solidFill>
                <a:latin typeface="Georgia"/>
              </a:rPr>
              <a:t>Vienna Modern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B9A9BD"/>
                </a:solidFill>
                <a:latin typeface="Georgia"/>
              </a:rPr>
              <a:t>Art and Society 1890 to 1930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3EAD8"/>
                </a:solidFill>
                <a:latin typeface="Georgia"/>
              </a:rPr>
              <a:t>Joyce Padilla, Director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9A9BD"/>
                </a:solidFill>
                <a:latin typeface="Georgia"/>
              </a:rPr>
              <a:t>Strategic plan progress, Q4 cycle, 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548640" cy="73152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3EAD8"/>
                </a:solidFill>
                <a:latin typeface="Georgia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F3EAD8"/>
                </a:solidFill>
                <a:latin typeface="Georgia"/>
              </a:rPr>
              <a:t>•  </a:t>
            </a:r>
            <a:r>
              <a:rPr sz="2000">
                <a:solidFill>
                  <a:srgbClr val="F3EAD8"/>
                </a:solidFill>
                <a:latin typeface="Georgia"/>
              </a:rPr>
              <a:t>Exhibition at a glance, the headline numbers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3EAD8"/>
                </a:solidFill>
                <a:latin typeface="Georgia"/>
              </a:rPr>
              <a:t>•  </a:t>
            </a:r>
            <a:r>
              <a:rPr sz="2000">
                <a:solidFill>
                  <a:srgbClr val="F3EAD8"/>
                </a:solidFill>
                <a:latin typeface="Georgia"/>
              </a:rPr>
              <a:t>Budget allocation across the nine work lines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3EAD8"/>
                </a:solidFill>
                <a:latin typeface="Georgia"/>
              </a:rPr>
              <a:t>•  </a:t>
            </a:r>
            <a:r>
              <a:rPr sz="2000">
                <a:solidFill>
                  <a:srgbClr val="F3EAD8"/>
                </a:solidFill>
                <a:latin typeface="Georgia"/>
              </a:rPr>
              <a:t>Loan agreements and what remains open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3EAD8"/>
                </a:solidFill>
                <a:latin typeface="Georgia"/>
              </a:rPr>
              <a:t>•  </a:t>
            </a:r>
            <a:r>
              <a:rPr sz="2000">
                <a:solidFill>
                  <a:srgbClr val="F3EAD8"/>
                </a:solidFill>
                <a:latin typeface="Georgia"/>
              </a:rPr>
              <a:t>The road to opening night on 1 October 2026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3EAD8"/>
                </a:solidFill>
                <a:latin typeface="Georgia"/>
              </a:rPr>
              <a:t>•  </a:t>
            </a:r>
            <a:r>
              <a:rPr sz="2000">
                <a:solidFill>
                  <a:srgbClr val="F3EAD8"/>
                </a:solidFill>
                <a:latin typeface="Georgia"/>
              </a:rPr>
              <a:t>Risks, contingencies, and the board's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3EAD8"/>
                </a:solidFill>
                <a:latin typeface="Georgia"/>
              </a:rPr>
              <a:t>Exhibition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2542032" cy="2377440"/>
          </a:xfrm>
          <a:prstGeom prst="rect">
            <a:avLst/>
          </a:prstGeom>
          <a:solidFill>
            <a:srgbClr val="3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542032" cy="9144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54203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B08D57"/>
                </a:solidFill>
                <a:latin typeface="Georgia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3EAD8"/>
                </a:solidFill>
                <a:latin typeface="Georgia"/>
              </a:rPr>
              <a:t>International loans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25420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9A9BD"/>
                </a:solidFill>
                <a:latin typeface="Georgia"/>
              </a:rPr>
              <a:t>13 signed, 2 in talks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2011680"/>
            <a:ext cx="2542032" cy="2377440"/>
          </a:xfrm>
          <a:prstGeom prst="rect">
            <a:avLst/>
          </a:prstGeom>
          <a:solidFill>
            <a:srgbClr val="3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9584" y="2011680"/>
            <a:ext cx="2542032" cy="9144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2468880"/>
            <a:ext cx="254203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B08D57"/>
                </a:solidFill>
                <a:latin typeface="Georgia"/>
              </a:rPr>
              <a:t>EUR 1.85m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3383280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3EAD8"/>
                </a:solidFill>
                <a:latin typeface="Georgia"/>
              </a:rPr>
              <a:t>Total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3794760"/>
            <a:ext cx="25420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9A9BD"/>
                </a:solidFill>
                <a:latin typeface="Georgia"/>
              </a:rPr>
              <a:t>Nine work lines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011680"/>
            <a:ext cx="2542032" cy="2377440"/>
          </a:xfrm>
          <a:prstGeom prst="rect">
            <a:avLst/>
          </a:prstGeom>
          <a:solidFill>
            <a:srgbClr val="3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2011680"/>
            <a:ext cx="2542032" cy="9144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2468880"/>
            <a:ext cx="254203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B08D57"/>
                </a:solidFill>
                <a:latin typeface="Georgia"/>
              </a:rPr>
              <a:t>1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383280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3EAD8"/>
                </a:solidFill>
                <a:latin typeface="Georgia"/>
              </a:rPr>
              <a:t>Opening gala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3794760"/>
            <a:ext cx="25420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9A9BD"/>
                </a:solidFill>
                <a:latin typeface="Georgia"/>
              </a:rPr>
              <a:t>Federal Minister attends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42832" y="2011680"/>
            <a:ext cx="2542032" cy="2377440"/>
          </a:xfrm>
          <a:prstGeom prst="rect">
            <a:avLst/>
          </a:prstGeom>
          <a:solidFill>
            <a:srgbClr val="3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42832" y="2011680"/>
            <a:ext cx="2542032" cy="9144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2468880"/>
            <a:ext cx="254203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B08D57"/>
                </a:solidFill>
                <a:latin typeface="Georgia"/>
              </a:rPr>
              <a:t>1,200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3383280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3EAD8"/>
                </a:solidFill>
                <a:latin typeface="Georgia"/>
              </a:rPr>
              <a:t>Catalogue copies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3794760"/>
            <a:ext cx="25420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9A9BD"/>
                </a:solidFill>
                <a:latin typeface="Georgia"/>
              </a:rPr>
              <a:t>Single print edition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3EAD8"/>
                </a:solidFill>
                <a:latin typeface="Georgia"/>
              </a:rPr>
              <a:t>Budget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B9A9BD"/>
                </a:solidFill>
                <a:latin typeface="Georgia"/>
              </a:rPr>
              <a:t>Nine work lines, EUR 1,850,000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74320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3EAD8"/>
                </a:solidFill>
                <a:latin typeface="Georgia"/>
              </a:rPr>
              <a:t>Loans, transport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914753"/>
            <a:ext cx="6766560" cy="238760"/>
          </a:xfrm>
          <a:prstGeom prst="rect">
            <a:avLst/>
          </a:prstGeom>
          <a:solidFill>
            <a:srgbClr val="2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914753"/>
            <a:ext cx="6766560" cy="23876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0" y="1828800"/>
            <a:ext cx="109728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08D57"/>
                </a:solidFill>
                <a:latin typeface="Georgia"/>
              </a:rPr>
              <a:t>420,000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6320"/>
            <a:ext cx="274320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3EAD8"/>
                </a:solidFill>
                <a:latin typeface="Georgia"/>
              </a:rPr>
              <a:t>Insurance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392273"/>
            <a:ext cx="6766560" cy="238760"/>
          </a:xfrm>
          <a:prstGeom prst="rect">
            <a:avLst/>
          </a:prstGeom>
          <a:solidFill>
            <a:srgbClr val="2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392273"/>
            <a:ext cx="4994365" cy="238760"/>
          </a:xfrm>
          <a:prstGeom prst="rect">
            <a:avLst/>
          </a:prstGeom>
          <a:solidFill>
            <a:srgbClr val="5D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306320"/>
            <a:ext cx="109728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08D57"/>
                </a:solidFill>
                <a:latin typeface="Georgia"/>
              </a:rPr>
              <a:t>310,000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3840"/>
            <a:ext cx="274320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3EAD8"/>
                </a:solidFill>
                <a:latin typeface="Georgia"/>
              </a:rPr>
              <a:t>Install,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869793"/>
            <a:ext cx="6766560" cy="238760"/>
          </a:xfrm>
          <a:prstGeom prst="rect">
            <a:avLst/>
          </a:prstGeom>
          <a:solidFill>
            <a:srgbClr val="2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2869793"/>
            <a:ext cx="4027714" cy="238760"/>
          </a:xfrm>
          <a:prstGeom prst="rect">
            <a:avLst/>
          </a:prstGeom>
          <a:solidFill>
            <a:srgbClr val="5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2783840"/>
            <a:ext cx="109728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08D57"/>
                </a:solidFill>
                <a:latin typeface="Georgia"/>
              </a:rPr>
              <a:t>250,000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61360"/>
            <a:ext cx="274320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3EAD8"/>
                </a:solidFill>
                <a:latin typeface="Georgia"/>
              </a:rPr>
              <a:t>Catalogue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3347313"/>
            <a:ext cx="6766560" cy="238760"/>
          </a:xfrm>
          <a:prstGeom prst="rect">
            <a:avLst/>
          </a:prstGeom>
          <a:solidFill>
            <a:srgbClr val="2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3347313"/>
            <a:ext cx="3544388" cy="238760"/>
          </a:xfrm>
          <a:prstGeom prst="rect">
            <a:avLst/>
          </a:prstGeom>
          <a:solidFill>
            <a:srgbClr val="D0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0" y="3261360"/>
            <a:ext cx="109728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08D57"/>
                </a:solidFill>
                <a:latin typeface="Georgia"/>
              </a:rPr>
              <a:t>220,000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38880"/>
            <a:ext cx="274320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3EAD8"/>
                </a:solidFill>
                <a:latin typeface="Georgia"/>
              </a:rPr>
              <a:t>Conservation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3824833"/>
            <a:ext cx="6766560" cy="238760"/>
          </a:xfrm>
          <a:prstGeom prst="rect">
            <a:avLst/>
          </a:prstGeom>
          <a:solidFill>
            <a:srgbClr val="2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66160" y="3824833"/>
            <a:ext cx="2899954" cy="238760"/>
          </a:xfrm>
          <a:prstGeom prst="rect">
            <a:avLst/>
          </a:prstGeom>
          <a:solidFill>
            <a:srgbClr val="9B7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3738880"/>
            <a:ext cx="109728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08D57"/>
                </a:solidFill>
                <a:latin typeface="Georgia"/>
              </a:rPr>
              <a:t>180,000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16400"/>
            <a:ext cx="274320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3EAD8"/>
                </a:solidFill>
                <a:latin typeface="Georgia"/>
              </a:rPr>
              <a:t>Marketing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4302353"/>
            <a:ext cx="6766560" cy="238760"/>
          </a:xfrm>
          <a:prstGeom prst="rect">
            <a:avLst/>
          </a:prstGeom>
          <a:solidFill>
            <a:srgbClr val="2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66160" y="4302353"/>
            <a:ext cx="2577737" cy="238760"/>
          </a:xfrm>
          <a:prstGeom prst="rect">
            <a:avLst/>
          </a:prstGeom>
          <a:solidFill>
            <a:srgbClr val="E0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4216400"/>
            <a:ext cx="109728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08D57"/>
                </a:solidFill>
                <a:latin typeface="Georgia"/>
              </a:rPr>
              <a:t>160,000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693920"/>
            <a:ext cx="274320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3EAD8"/>
                </a:solidFill>
                <a:latin typeface="Georgia"/>
              </a:rPr>
              <a:t>Opening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4779873"/>
            <a:ext cx="6766560" cy="238760"/>
          </a:xfrm>
          <a:prstGeom prst="rect">
            <a:avLst/>
          </a:prstGeom>
          <a:solidFill>
            <a:srgbClr val="2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66160" y="4779873"/>
            <a:ext cx="2255520" cy="238760"/>
          </a:xfrm>
          <a:prstGeom prst="rect">
            <a:avLst/>
          </a:prstGeom>
          <a:solidFill>
            <a:srgbClr val="48B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4693920"/>
            <a:ext cx="109728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08D57"/>
                </a:solidFill>
                <a:latin typeface="Georgia"/>
              </a:rPr>
              <a:t>140,000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171440"/>
            <a:ext cx="274320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3EAD8"/>
                </a:solidFill>
                <a:latin typeface="Georgia"/>
              </a:rPr>
              <a:t>Digital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5257393"/>
            <a:ext cx="6766560" cy="238760"/>
          </a:xfrm>
          <a:prstGeom prst="rect">
            <a:avLst/>
          </a:prstGeom>
          <a:solidFill>
            <a:srgbClr val="2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66160" y="5257393"/>
            <a:ext cx="1449977" cy="238760"/>
          </a:xfrm>
          <a:prstGeom prst="rect">
            <a:avLst/>
          </a:prstGeom>
          <a:solidFill>
            <a:srgbClr val="C6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0" y="5171440"/>
            <a:ext cx="109728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08D57"/>
                </a:solidFill>
                <a:latin typeface="Georgia"/>
              </a:rPr>
              <a:t>90,000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648960"/>
            <a:ext cx="274320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3EAD8"/>
                </a:solidFill>
                <a:latin typeface="Georgia"/>
              </a:rPr>
              <a:t>Contingency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5734913"/>
            <a:ext cx="6766560" cy="238760"/>
          </a:xfrm>
          <a:prstGeom prst="rect">
            <a:avLst/>
          </a:prstGeom>
          <a:solidFill>
            <a:srgbClr val="2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66160" y="5734913"/>
            <a:ext cx="1288868" cy="238760"/>
          </a:xfrm>
          <a:prstGeom prst="rect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0" y="5648960"/>
            <a:ext cx="1097280" cy="477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08D57"/>
                </a:solidFill>
                <a:latin typeface="Georgia"/>
              </a:rPr>
              <a:t>80,000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3EAD8"/>
                </a:solidFill>
                <a:latin typeface="Georgia"/>
              </a:rPr>
              <a:t>Loan agreements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solidFill>
            <a:srgbClr val="2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9113520" cy="822960"/>
          </a:xfrm>
          <a:prstGeom prst="rect">
            <a:avLst/>
          </a:prstGeom>
          <a:solidFill>
            <a:srgbClr val="5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54864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41829"/>
                </a:solidFill>
                <a:latin typeface="Georgia"/>
              </a:rPr>
              <a:t>13 signed and 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36480" y="2011680"/>
            <a:ext cx="140208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3EAD8"/>
                </a:solidFill>
                <a:latin typeface="Georgia"/>
              </a:rPr>
              <a:t>2 in talks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3EAD8"/>
                </a:solidFill>
                <a:latin typeface="Georgia"/>
              </a:rPr>
              <a:t>Combined insured value, EUR 48.7 million across the fifteen works.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F3EAD8"/>
                </a:solidFill>
                <a:latin typeface="Georgia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B9A9BD"/>
                </a:solidFill>
                <a:latin typeface="Georgia"/>
              </a:rPr>
              <a:t>The two open agreements, in Paris and New York, are in final negotiation with closure expected before the press preview.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3EAD8"/>
                </a:solidFill>
                <a:latin typeface="Georgia"/>
              </a:rPr>
              <a:t>Road to opening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15600" cy="603504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45920"/>
            <a:ext cx="21945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41829"/>
                </a:solidFill>
                <a:latin typeface="Georgia"/>
              </a:rPr>
              <a:t>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0128" y="1645920"/>
            <a:ext cx="53949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41829"/>
                </a:solidFill>
                <a:latin typeface="Georgia"/>
              </a:rPr>
              <a:t>Milestone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7968" y="1645920"/>
            <a:ext cx="23774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41829"/>
                </a:solidFill>
                <a:latin typeface="Georgia"/>
              </a:rPr>
              <a:t>Owner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49424"/>
            <a:ext cx="10515600" cy="603504"/>
          </a:xfrm>
          <a:prstGeom prst="rect">
            <a:avLst/>
          </a:prstGeom>
          <a:solidFill>
            <a:srgbClr val="3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49424"/>
            <a:ext cx="21945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19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2249424"/>
            <a:ext cx="53949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First crates in transit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2249424"/>
            <a:ext cx="23774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Conservation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52928"/>
            <a:ext cx="10515600" cy="603504"/>
          </a:xfrm>
          <a:prstGeom prst="rect">
            <a:avLst/>
          </a:prstGeom>
          <a:solidFill>
            <a:srgbClr val="2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852928"/>
            <a:ext cx="21945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22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852928"/>
            <a:ext cx="53949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Budget consultation, ministry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2852928"/>
            <a:ext cx="23774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Joyce Padilla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456432"/>
            <a:ext cx="10515600" cy="603504"/>
          </a:xfrm>
          <a:prstGeom prst="rect">
            <a:avLst/>
          </a:prstGeom>
          <a:solidFill>
            <a:srgbClr val="3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456432"/>
            <a:ext cx="21945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26 Oct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3456432"/>
            <a:ext cx="53949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Install begins in galleries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3456432"/>
            <a:ext cx="23774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Margarethe Huber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059936"/>
            <a:ext cx="10515600" cy="603504"/>
          </a:xfrm>
          <a:prstGeom prst="rect">
            <a:avLst/>
          </a:prstGeom>
          <a:solidFill>
            <a:srgbClr val="2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059936"/>
            <a:ext cx="21945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1 Oct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4059936"/>
            <a:ext cx="53949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Opening gala and press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4059936"/>
            <a:ext cx="23774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Director's office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663440"/>
            <a:ext cx="10515600" cy="603504"/>
          </a:xfrm>
          <a:prstGeom prst="rect">
            <a:avLst/>
          </a:prstGeom>
          <a:solidFill>
            <a:srgbClr val="3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663440"/>
            <a:ext cx="21945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8 Oct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4663440"/>
            <a:ext cx="539496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International press preview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4663440"/>
            <a:ext cx="23774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3EAD8"/>
                </a:solidFill>
                <a:latin typeface="Georgia"/>
              </a:rPr>
              <a:t>Communications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3EAD8"/>
                </a:solidFill>
                <a:latin typeface="Georgia"/>
              </a:rPr>
              <a:t>Risks and the board's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F3EAD8"/>
                </a:solidFill>
                <a:latin typeface="Georgia"/>
              </a:rPr>
              <a:t>•  </a:t>
            </a:r>
            <a:r>
              <a:rPr sz="1800">
                <a:solidFill>
                  <a:srgbClr val="F3EAD8"/>
                </a:solidFill>
                <a:latin typeface="Georgia"/>
              </a:rPr>
              <a:t>Two loans unsigned, contingency held at EUR 80,000 against late transport costs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3EAD8"/>
                </a:solidFill>
                <a:latin typeface="Georgia"/>
              </a:rPr>
              <a:t>•  </a:t>
            </a:r>
            <a:r>
              <a:rPr sz="1800">
                <a:solidFill>
                  <a:srgbClr val="F3EAD8"/>
                </a:solidFill>
                <a:latin typeface="Georgia"/>
              </a:rPr>
              <a:t>Press preview timing is tight, communications brief due three days ahead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3EAD8"/>
                </a:solidFill>
                <a:latin typeface="Georgia"/>
              </a:rPr>
              <a:t>•  </a:t>
            </a:r>
            <a:r>
              <a:rPr sz="1800">
                <a:solidFill>
                  <a:srgbClr val="F3EAD8"/>
                </a:solidFill>
                <a:latin typeface="Georgia"/>
              </a:rPr>
              <a:t>Decision sought, approval of the install schedule and the opening guest list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3EAD8"/>
                </a:solidFill>
                <a:latin typeface="Georgia"/>
              </a:rPr>
              <a:t>•  </a:t>
            </a:r>
            <a:r>
              <a:rPr sz="1800">
                <a:solidFill>
                  <a:srgbClr val="F3EAD8"/>
                </a:solidFill>
                <a:latin typeface="Georgia"/>
              </a:rPr>
              <a:t>Decision sought, sign off on the catalogue print run of 1,200 copies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3EAD8"/>
                </a:solidFill>
                <a:latin typeface="Georgia"/>
              </a:rPr>
              <a:t>An argument about how a city sees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B08D57"/>
                </a:solidFill>
                <a:latin typeface="Georgia"/>
              </a:rPr>
              <a:t>Joyce Padilla, Director, Osterreichisches Kunstmuseum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Joyce Padilla</dc:creator>
  <cp:keywords/>
  <dc:description/>
  <cp:lastModifiedBy>Joyce Padilla</cp:lastModifiedBy>
  <cp:revision>1</cp:revision>
  <dcterms:created xsi:type="dcterms:W3CDTF">2026-02-15T09:30:00Z</dcterms:created>
  <dcterms:modified xsi:type="dcterms:W3CDTF">2026-02-15T09:30:00Z</dcterms:modified>
  <cp:category/>
</cp:coreProperties>
</file>