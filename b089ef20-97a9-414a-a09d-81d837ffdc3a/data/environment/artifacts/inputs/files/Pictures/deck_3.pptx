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Wine cost</c:v>
                </c:pt>
                <c:pt idx="1">
                  <c:v>Food pairings</c:v>
                </c:pt>
                <c:pt idx="2">
                  <c:v>Staff</c:v>
                </c:pt>
                <c:pt idx="3">
                  <c:v>Margin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0.32</c:v>
                </c:pt>
                <c:pt idx="1">
                  <c:v>0.2</c:v>
                </c:pt>
                <c:pt idx="2">
                  <c:v>0.18</c:v>
                </c:pt>
                <c:pt idx="3">
                  <c:v>0.3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2194560" cy="1097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6EEDD"/>
                </a:solidFill>
                <a:latin typeface="Calibri"/>
              </a:rPr>
              <a:t>American Craft Wine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9A24B"/>
                </a:solidFill>
                <a:latin typeface="Calibri"/>
              </a:rPr>
              <a:t>Fall session, an evening of domestic pours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6EEDD"/>
                </a:solidFill>
                <a:latin typeface="Calibri"/>
              </a:rPr>
              <a:t>Eleanor's Tavern, Astoria  /  Wednesday, October 21, 2026  /  6:30 to 9:00 PM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A24B"/>
                </a:solidFill>
                <a:latin typeface="Calibri"/>
              </a:rPr>
              <a:t>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6EEDD"/>
                </a:solidFill>
                <a:latin typeface="Calibri"/>
              </a:rPr>
              <a:t>The evening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E7D2C9"/>
                </a:solidFill>
                <a:latin typeface="Calibri"/>
              </a:rPr>
              <a:t>Eleanor's Tavern  |  American Craft Wine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E7D2C9"/>
                </a:solidFill>
                <a:latin typeface="Calibri"/>
              </a:rPr>
              <a:t>Page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2606040" cy="201168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C9A24B"/>
                </a:solidFill>
                <a:latin typeface="Calibri"/>
              </a:rPr>
              <a:t>32 of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seats sold 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737360"/>
            <a:ext cx="2606040" cy="201168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1031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C9A24B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0175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pours per guest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737360"/>
            <a:ext cx="2606040" cy="201168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1031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C9A24B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175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domestic producers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737360"/>
            <a:ext cx="2606040" cy="201168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1031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C9A24B"/>
                </a:solidFill>
                <a:latin typeface="Calibri"/>
              </a:rPr>
              <a:t>$65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0175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per 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General admission, eight pours paired with six small plates from the fall menu.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Reservation deposits collected in advance and credited to the table on arrival.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A24B"/>
                </a:solidFill>
                <a:latin typeface="Calibri"/>
              </a:rPr>
              <a:t>DOMESTIC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6EEDD"/>
                </a:solidFill>
                <a:latin typeface="Calibri"/>
              </a:rPr>
              <a:t>The pour lineup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E7D2C9"/>
                </a:solidFill>
                <a:latin typeface="Calibri"/>
              </a:rPr>
              <a:t>Eleanor's Tavern  |  American Craft Wine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E7D2C9"/>
                </a:solidFill>
                <a:latin typeface="Calibri"/>
              </a:rPr>
              <a:t>Page 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54480"/>
          <a:ext cx="107899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120640"/>
                <a:gridCol w="42062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6EEDD"/>
                          </a:solidFill>
                        </a:rPr>
                        <a:t>Pour</a:t>
                      </a:r>
                    </a:p>
                  </a:txBody>
                  <a:tcPr>
                    <a:solidFill>
                      <a:srgbClr val="4A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rgbClr val="F6EEDD"/>
                          </a:solidFill>
                        </a:rPr>
                        <a:t>Varietal</a:t>
                      </a:r>
                    </a:p>
                  </a:txBody>
                  <a:tcPr>
                    <a:solidFill>
                      <a:srgbClr val="4A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rgbClr val="F6EEDD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4A14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Dry cider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New York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Riesling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Finger Lakes, New York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Rose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Long Island, New York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Chardonnay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California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Pinot Noir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Oregon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Zinfandel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California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A24B"/>
                </a:solidFill>
                <a:latin typeface="Calibri"/>
              </a:rPr>
              <a:t>HOW THE NIGHT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6EEDD"/>
                </a:solidFill>
                <a:latin typeface="Calibri"/>
              </a:rPr>
              <a:t>Run of show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E7D2C9"/>
                </a:solidFill>
                <a:latin typeface="Calibri"/>
              </a:rPr>
              <a:t>Eleanor's Tavern  |  American Craft Wine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E7D2C9"/>
                </a:solidFill>
                <a:latin typeface="Calibri"/>
              </a:rPr>
              <a:t>Page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54480"/>
          <a:ext cx="104241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2296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6EEDD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4A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rgbClr val="F6EEDD"/>
                          </a:solidFill>
                        </a:rPr>
                        <a:t>On the floor</a:t>
                      </a:r>
                    </a:p>
                  </a:txBody>
                  <a:tcPr>
                    <a:solidFill>
                      <a:srgbClr val="4A14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6:30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Doors, welcome pour, guests seated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6:50 PM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First flight, white pours with two small plates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7:30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Second flight, rose and lighter reds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8:10 PM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Final flight, reds with the short rib bite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8:45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Open pour, dessert, settle tabs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9:00 PM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Close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A24B"/>
                </a:solidFill>
                <a:latin typeface="Calibri"/>
              </a:rPr>
              <a:t>TICKETED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6EEDD"/>
                </a:solidFill>
                <a:latin typeface="Calibri"/>
              </a:rPr>
              <a:t>The economics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E7D2C9"/>
                </a:solidFill>
                <a:latin typeface="Calibri"/>
              </a:rPr>
              <a:t>Eleanor's Tavern  |  American Craft Wine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E7D2C9"/>
                </a:solidFill>
                <a:latin typeface="Calibri"/>
              </a:rPr>
              <a:t>Page 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3736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6EEDD"/>
                          </a:solidFill>
                        </a:rPr>
                        <a:t>Line</a:t>
                      </a:r>
                    </a:p>
                  </a:txBody>
                  <a:tcPr>
                    <a:solidFill>
                      <a:srgbClr val="4A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rgbClr val="F6EEDD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4A14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32 tickets at $65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$2,080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Service fee collected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$125</a:t>
                      </a:r>
                    </a:p>
                  </a:txBody>
                  <a:tcPr>
                    <a:solidFill>
                      <a:srgbClr val="F0E6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</a:rPr>
                        <a:t>Total collected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22222"/>
                          </a:solidFill>
                        </a:rPr>
                        <a:t>$2,205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00800" y="1554480"/>
          <a:ext cx="53035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 Craft Wine Series</dc:title>
  <dc:subject/>
  <dc:creator>Carlton McGee</dc:creator>
  <cp:keywords/>
  <dc:description/>
  <cp:lastModifiedBy>Carlton McGee</cp:lastModifiedBy>
  <cp:revision>1</cp:revision>
  <dcterms:created xsi:type="dcterms:W3CDTF">2013-01-27T09:14:16Z</dcterms:created>
  <dcterms:modified xsi:type="dcterms:W3CDTF">2013-01-27T09:15:58Z</dcterms:modified>
  <cp:category/>
</cp:coreProperties>
</file>