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Nights booked, last 12 months</c:v>
                </c:pt>
              </c:strCache>
            </c:strRef>
          </c:tx>
          <c:spPr>
            <a:solidFill>
              <a:srgbClr val="C9A24B"/>
            </a:solidFill>
          </c:spPr>
          <c:cat>
            <c:strRef>
              <c:f>Sheet1!$A$2:$A$5</c:f>
              <c:strCache>
                <c:ptCount val="4"/>
                <c:pt idx="0">
                  <c:v>The Green Note</c:v>
                </c:pt>
                <c:pt idx="1">
                  <c:v>The Gilded Fork</c:v>
                </c:pt>
                <c:pt idx="2">
                  <c:v>The Phoenix</c:v>
                </c:pt>
                <c:pt idx="3">
                  <c:v>The Spotlight Room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</c:v>
                </c:pt>
                <c:pt idx="1">
                  <c:v>9</c:v>
                </c:pt>
                <c:pt idx="2">
                  <c:v>12</c:v>
                </c:pt>
                <c:pt idx="3">
                  <c:v>8</c:v>
                </c:pt>
              </c:numCache>
            </c:numRef>
          </c:val>
        </c:ser>
        <c:dLbls>
          <c:txPr>
            <a:bodyPr/>
            <a:lstStyle/>
            <a:p>
              <a:pPr>
                <a:defRPr>
                  <a:solidFill>
                    <a:srgbClr val="EFE7D2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9FB1C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9FB1C6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2794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C9A24B"/>
                </a:solidFill>
                <a:latin typeface="Calibri"/>
              </a:rPr>
              <a:t>THE JESSICA WEBB QUARTET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9718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FE7D2"/>
                </a:solidFill>
                <a:latin typeface="Calibri"/>
              </a:rPr>
              <a:t>Kansas City Jazz, Tenor and Alto Saxophone 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852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FB1C6"/>
                </a:solidFill>
                <a:latin typeface="Calibri"/>
              </a:rPr>
              <a:t>Press Kit 2026 to 2027   .   bookings through jessica.webb@finthesiss.ai   .   (816) 555-0190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64592" cy="6400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About the Band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0881360" cy="4480560"/>
          </a:xfrm>
          <a:prstGeom prst="rect">
            <a:avLst/>
          </a:prstGeom>
          <a:solidFill>
            <a:srgbClr val="16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EFE7D2"/>
                </a:solidFill>
                <a:latin typeface="Calibri"/>
              </a:rPr>
              <a:t>Led by saxophonist Jessica Webb, the quartet has been a fixture of the Kansas City jazz scene for more than two decades. The band plays the city's rooms with a sound that is warm, swinging, and unafraid of a ballad.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FE7D2"/>
                </a:solidFill>
                <a:latin typeface="Calibri"/>
              </a:rPr>
              <a:t>The lineup pairs Webb's tenor and alto with Ray Coleman on piano, a partnership of 22 years, Luke Vance on bass, and Tomoko Ishida on drums.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FE7D2"/>
                </a:solidFill>
                <a:latin typeface="Calibri"/>
              </a:rPr>
              <a:t>Debut album Two Roads arrived in 2023. A second album, Westport Suite, is in production with a target release in early 2027.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FE7D2"/>
                </a:solidFill>
                <a:latin typeface="Calibri"/>
              </a:rPr>
              <a:t>The quartet performs three to four nights a month and holds a standing slot at the Heartland Jazz Festival each June.</a:t>
            </a:r>
          </a:p>
        </p:txBody>
      </p:sp>
    </p:spTree>
  </p:cSld>
  <p:clrMapOvr>
    <a:masterClrMapping/>
  </p:clrMapOvr>
  <p:transition xmlns:p14="http://schemas.microsoft.com/office/powerpoint/2010/main"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Personnel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698480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68880"/>
                <a:gridCol w="3291840"/>
                <a:gridCol w="2468880"/>
                <a:gridCol w="2468880"/>
              </a:tblGrid>
              <a:tr h="6583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0161F"/>
                          </a:solidFill>
                          <a:latin typeface="Calibri"/>
                        </a:rPr>
                        <a:t>Member</a:t>
                      </a:r>
                    </a:p>
                  </a:txBody>
                  <a:tcPr anchor="ctr" marT="38100" marB="38100" marL="88900" marR="88900">
                    <a:solidFill>
                      <a:srgbClr val="C9A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0161F"/>
                          </a:solidFill>
                          <a:latin typeface="Calibri"/>
                        </a:rPr>
                        <a:t>Instrument</a:t>
                      </a:r>
                    </a:p>
                  </a:txBody>
                  <a:tcPr anchor="ctr" marT="38100" marB="38100" marL="88900" marR="88900">
                    <a:solidFill>
                      <a:srgbClr val="C9A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0161F"/>
                          </a:solidFill>
                          <a:latin typeface="Calibri"/>
                        </a:rPr>
                        <a:t>With the band</a:t>
                      </a:r>
                    </a:p>
                  </a:txBody>
                  <a:tcPr anchor="ctr" marT="38100" marB="38100" marL="88900" marR="88900">
                    <a:solidFill>
                      <a:srgbClr val="C9A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0161F"/>
                          </a:solidFill>
                          <a:latin typeface="Calibri"/>
                        </a:rPr>
                        <a:t>Also teaches</a:t>
                      </a:r>
                    </a:p>
                  </a:txBody>
                  <a:tcPr anchor="ctr" marT="38100" marB="38100" marL="88900" marR="88900">
                    <a:solidFill>
                      <a:srgbClr val="C9A24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FE7D2"/>
                          </a:solidFill>
                          <a:latin typeface="Calibri"/>
                        </a:rPr>
                        <a:t>Jessica Webb</a:t>
                      </a:r>
                    </a:p>
                  </a:txBody>
                  <a:tcPr anchor="ctr" marT="38100" marB="38100" marL="88900" marR="88900">
                    <a:solidFill>
                      <a:srgbClr val="16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FE7D2"/>
                          </a:solidFill>
                          <a:latin typeface="Calibri"/>
                        </a:rPr>
                        <a:t>Tenor and alto sax, leader</a:t>
                      </a:r>
                    </a:p>
                  </a:txBody>
                  <a:tcPr anchor="ctr" marT="38100" marB="38100" marL="88900" marR="88900">
                    <a:solidFill>
                      <a:srgbClr val="16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FE7D2"/>
                          </a:solidFill>
                          <a:latin typeface="Calibri"/>
                        </a:rPr>
                        <a:t>Founder</a:t>
                      </a:r>
                    </a:p>
                  </a:txBody>
                  <a:tcPr anchor="ctr" marT="38100" marB="38100" marL="88900" marR="88900">
                    <a:solidFill>
                      <a:srgbClr val="16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FE7D2"/>
                          </a:solidFill>
                          <a:latin typeface="Calibri"/>
                        </a:rPr>
                        <a:t>Saxophone, Crossroads</a:t>
                      </a:r>
                    </a:p>
                  </a:txBody>
                  <a:tcPr anchor="ctr" marT="38100" marB="38100" marL="88900" marR="88900">
                    <a:solidFill>
                      <a:srgbClr val="16263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FE7D2"/>
                          </a:solidFill>
                          <a:latin typeface="Calibri"/>
                        </a:rPr>
                        <a:t>Ray Coleman</a:t>
                      </a:r>
                    </a:p>
                  </a:txBody>
                  <a:tcPr anchor="ctr" marT="38100" marB="38100" marL="88900" marR="88900">
                    <a:solidFill>
                      <a:srgbClr val="1C2E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FE7D2"/>
                          </a:solidFill>
                          <a:latin typeface="Calibri"/>
                        </a:rPr>
                        <a:t>Piano</a:t>
                      </a:r>
                    </a:p>
                  </a:txBody>
                  <a:tcPr anchor="ctr" marT="38100" marB="38100" marL="88900" marR="88900">
                    <a:solidFill>
                      <a:srgbClr val="1C2E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FE7D2"/>
                          </a:solidFill>
                          <a:latin typeface="Calibri"/>
                        </a:rPr>
                        <a:t>22 years</a:t>
                      </a:r>
                    </a:p>
                  </a:txBody>
                  <a:tcPr anchor="ctr" marT="38100" marB="38100" marL="88900" marR="88900">
                    <a:solidFill>
                      <a:srgbClr val="1C2E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FE7D2"/>
                          </a:solidFill>
                          <a:latin typeface="Calibri"/>
                        </a:rPr>
                        <a:t>Piano, Crossroads</a:t>
                      </a:r>
                    </a:p>
                  </a:txBody>
                  <a:tcPr anchor="ctr" marT="38100" marB="38100" marL="88900" marR="88900">
                    <a:solidFill>
                      <a:srgbClr val="1C2E4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FE7D2"/>
                          </a:solidFill>
                          <a:latin typeface="Calibri"/>
                        </a:rPr>
                        <a:t>Luke Vance</a:t>
                      </a:r>
                    </a:p>
                  </a:txBody>
                  <a:tcPr anchor="ctr" marT="38100" marB="38100" marL="88900" marR="88900">
                    <a:solidFill>
                      <a:srgbClr val="16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FE7D2"/>
                          </a:solidFill>
                          <a:latin typeface="Calibri"/>
                        </a:rPr>
                        <a:t>Upright and electric bass</a:t>
                      </a:r>
                    </a:p>
                  </a:txBody>
                  <a:tcPr anchor="ctr" marT="38100" marB="38100" marL="88900" marR="88900">
                    <a:solidFill>
                      <a:srgbClr val="16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FE7D2"/>
                          </a:solidFill>
                          <a:latin typeface="Calibri"/>
                        </a:rPr>
                        <a:t>Session and band</a:t>
                      </a:r>
                    </a:p>
                  </a:txBody>
                  <a:tcPr anchor="ctr" marT="38100" marB="38100" marL="88900" marR="88900">
                    <a:solidFill>
                      <a:srgbClr val="16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FE7D2"/>
                          </a:solidFill>
                          <a:latin typeface="Calibri"/>
                        </a:rPr>
                        <a:t>Bass</a:t>
                      </a:r>
                    </a:p>
                  </a:txBody>
                  <a:tcPr anchor="ctr" marT="38100" marB="38100" marL="88900" marR="88900">
                    <a:solidFill>
                      <a:srgbClr val="16263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FE7D2"/>
                          </a:solidFill>
                          <a:latin typeface="Calibri"/>
                        </a:rPr>
                        <a:t>Tomoko Ishida</a:t>
                      </a:r>
                    </a:p>
                  </a:txBody>
                  <a:tcPr anchor="ctr" marT="38100" marB="38100" marL="88900" marR="88900">
                    <a:solidFill>
                      <a:srgbClr val="1C2E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FE7D2"/>
                          </a:solidFill>
                          <a:latin typeface="Calibri"/>
                        </a:rPr>
                        <a:t>Drums</a:t>
                      </a:r>
                    </a:p>
                  </a:txBody>
                  <a:tcPr anchor="ctr" marT="38100" marB="38100" marL="88900" marR="88900">
                    <a:solidFill>
                      <a:srgbClr val="1C2E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FE7D2"/>
                          </a:solidFill>
                          <a:latin typeface="Calibri"/>
                        </a:rPr>
                        <a:t>Band</a:t>
                      </a:r>
                    </a:p>
                  </a:txBody>
                  <a:tcPr anchor="ctr" marT="38100" marB="38100" marL="88900" marR="88900">
                    <a:solidFill>
                      <a:srgbClr val="1C2E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FE7D2"/>
                          </a:solidFill>
                          <a:latin typeface="Calibri"/>
                        </a:rPr>
                        <a:t>HSU-KC jazz program</a:t>
                      </a:r>
                    </a:p>
                  </a:txBody>
                  <a:tcPr anchor="ctr" marT="38100" marB="38100" marL="88900" marR="88900">
                    <a:solidFill>
                      <a:srgbClr val="1C2E4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1206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FB1C6"/>
                </a:solidFill>
                <a:latin typeface="Calibri"/>
              </a:rPr>
              <a:t>All four members appear on every studio recording and on the headline festival sets.</a:t>
            </a:r>
          </a:p>
        </p:txBody>
      </p:sp>
    </p:spTree>
  </p:cSld>
  <p:clrMapOvr>
    <a:masterClrMapping/>
  </p:clrMapOvr>
  <p:transition xmlns:p14="http://schemas.microsoft.com/office/powerpoint/2010/main"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Where We Play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554480"/>
          <a:ext cx="67665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ectangle 3"/>
          <p:cNvSpPr/>
          <p:nvPr/>
        </p:nvSpPr>
        <p:spPr>
          <a:xfrm>
            <a:off x="7863840" y="1554480"/>
            <a:ext cx="3566160" cy="4754880"/>
          </a:xfrm>
          <a:prstGeom prst="rect">
            <a:avLst/>
          </a:prstGeom>
          <a:solidFill>
            <a:srgbClr val="16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0" y="1828800"/>
            <a:ext cx="31089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C9A24B"/>
                </a:solidFill>
                <a:latin typeface="Calibri"/>
              </a:rPr>
              <a:t>Primary Rooms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EFE7D2"/>
                </a:solidFill>
                <a:latin typeface="Calibri"/>
              </a:rPr>
              <a:t>The Green Note, jazz nights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EFE7D2"/>
                </a:solidFill>
                <a:latin typeface="Calibri"/>
              </a:rPr>
              <a:t>The Gilded Fork, dinner sets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EFE7D2"/>
                </a:solidFill>
                <a:latin typeface="Calibri"/>
              </a:rPr>
              <a:t>The Phoenix, headline shows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EFE7D2"/>
                </a:solidFill>
                <a:latin typeface="Calibri"/>
              </a:rPr>
              <a:t>The Spotlight Room at the Jazz Heritage Center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9FB1C6"/>
                </a:solidFill>
                <a:latin typeface="Calibri"/>
              </a:rPr>
              <a:t>Typical fee 300 to 800 dollars, four way split.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2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05840"/>
            <a:ext cx="10698480" cy="484632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C9A24B"/>
                </a:solidFill>
                <a:latin typeface="Calibri"/>
              </a:rPr>
              <a:t>Booking and 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EFE7D2"/>
                </a:solidFill>
                <a:latin typeface="Calibri"/>
              </a:rPr>
              <a:t>Email   jessica.webb@finthesiss.ai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EFE7D2"/>
                </a:solidFill>
                <a:latin typeface="Calibri"/>
              </a:rPr>
              <a:t>Phone   (816) 555-0190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EFE7D2"/>
                </a:solidFill>
                <a:latin typeface="Calibri"/>
              </a:rPr>
              <a:t>Based in Kansas City, Missouri, traveling for festivals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9FB1C6"/>
                </a:solidFill>
                <a:latin typeface="Calibri"/>
              </a:rPr>
              <a:t>Standard set, two 75 minute sets with one intermission</a:t>
            </a:r>
          </a:p>
        </p:txBody>
      </p:sp>
    </p:spTree>
  </p:cSld>
  <p:clrMapOvr>
    <a:masterClrMapping/>
  </p:clrMapOvr>
  <p:transition xmlns:p14="http://schemas.microsoft.com/office/powerpoint/2010/main"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2026-02-12T10:00:00Z</dcterms:created>
  <dcterms:modified xsi:type="dcterms:W3CDTF">2026-02-15T10:00:00Z</dcterms:modified>
  <cp:category/>
</cp:coreProperties>
</file>