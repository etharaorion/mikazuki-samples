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1E7A5E"/>
              </a:solidFill>
            </c:spPr>
          </c:dPt>
          <c:dPt>
            <c:idx val="1"/>
            <c:spPr>
              <a:solidFill>
                <a:srgbClr val="3FA07E"/>
              </a:solidFill>
            </c:spPr>
          </c:dPt>
          <c:dPt>
            <c:idx val="2"/>
            <c:spPr>
              <a:solidFill>
                <a:srgbClr val="8CC9B0"/>
              </a:solidFill>
            </c:spPr>
          </c:dPt>
          <c:dPt>
            <c:idx val="3"/>
            <c:spPr>
              <a:solidFill>
                <a:srgbClr val="E0A526"/>
              </a:solidFill>
            </c:spPr>
          </c:dPt>
          <c:cat>
            <c:strRef>
              <c:f>Sheet1!$A$2:$A$5</c:f>
              <c:strCache>
                <c:ptCount val="4"/>
                <c:pt idx="0">
                  <c:v>Private lessons</c:v>
                </c:pt>
                <c:pt idx="1">
                  <c:v>Group ensembles</c:v>
                </c:pt>
                <c:pt idx="2">
                  <c:v>Theory classes</c:v>
                </c:pt>
                <c:pt idx="3">
                  <c:v>Rental and supplies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9920</c:v>
                </c:pt>
                <c:pt idx="1">
                  <c:v>2760</c:v>
                </c:pt>
                <c:pt idx="2">
                  <c:v>1180</c:v>
                </c:pt>
                <c:pt idx="3">
                  <c:v>640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43A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CROSSROADS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CONSERVATORY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DCEFE7"/>
                </a:solidFill>
                <a:latin typeface="Calibri"/>
              </a:rPr>
              <a:t>OF MUSIC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Board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356616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DCEFE7"/>
                </a:solidFill>
                <a:latin typeface="Calibri"/>
              </a:rPr>
              <a:t>Fiscal review and the road to year five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DBFB1"/>
                </a:solidFill>
                <a:latin typeface="Calibri"/>
              </a:rPr>
              <a:t>Prepared for the advisory board, February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3A2B"/>
                </a:solidFill>
                <a:latin typeface="Calibri"/>
              </a:rPr>
              <a:t>Where We Stand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606040" cy="1645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E7A5E"/>
                </a:solidFill>
                <a:latin typeface="Calibri"/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3"/>
                </a:solidFill>
                <a:latin typeface="Calibri"/>
              </a:rPr>
              <a:t>Active 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737360"/>
            <a:ext cx="2606040" cy="1645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E7A5E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3"/>
                </a:solidFill>
                <a:latin typeface="Calibri"/>
              </a:rPr>
              <a:t>Part time instructors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2606040" cy="1645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4884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E7A5E"/>
                </a:solidFill>
                <a:latin typeface="Calibri"/>
              </a:rPr>
              <a:t>$14,500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3"/>
                </a:solidFill>
                <a:latin typeface="Calibri"/>
              </a:rPr>
              <a:t>Monthly revenue,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73736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737360"/>
            <a:ext cx="2606040" cy="1645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148840"/>
            <a:ext cx="2606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1E7A5E"/>
                </a:solidFill>
                <a:latin typeface="Calibri"/>
              </a:rPr>
              <a:t>$2,500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3"/>
                </a:solidFill>
                <a:latin typeface="Calibri"/>
              </a:rPr>
              <a:t>Owner net, dollars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B63"/>
                </a:solidFill>
                <a:latin typeface="Calibri"/>
              </a:rPr>
              <a:t>Enrollment has held at roughly 85 students across the year, a healthy mix of 40 percent minors and 60 percent adults. Net to the owner sits near 2,500 dollars a month, in line with the trailing six month average.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3A2B"/>
                </a:solidFill>
                <a:latin typeface="Calibri"/>
              </a:rPr>
              <a:t>Revenue Mix, A Typical Month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554480"/>
          <a:ext cx="6035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132320" y="1737360"/>
            <a:ext cx="43891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201168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1E7A5E"/>
                </a:solidFill>
                <a:latin typeface="Calibri"/>
              </a:rPr>
              <a:t>Reading the Mix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B6B63"/>
                </a:solidFill>
                <a:latin typeface="Calibri"/>
              </a:rPr>
              <a:t>Private lessons remain the engine at roughly 68 percent of revenue.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B6B63"/>
                </a:solidFill>
                <a:latin typeface="Calibri"/>
              </a:rPr>
              <a:t>Group ensembles and theory add stable, schedulable income.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B6B63"/>
                </a:solidFill>
                <a:latin typeface="Calibri"/>
              </a:rPr>
              <a:t>Total monthly revenue, 14,500 dollars, against 12,000 dollars of operating cost.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Year Ahead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0"/>
                <a:gridCol w="2834640"/>
                <a:gridCol w="2377440"/>
              </a:tblGrid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 marT="38100" marB="38100" marL="88900" marR="88900">
                    <a:solidFill>
                      <a:srgbClr val="1E7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 marT="38100" marB="38100" marL="88900" marR="88900">
                    <a:solidFill>
                      <a:srgbClr val="1E7A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 marT="38100" marB="38100" marL="88900" marR="88900">
                    <a:solidFill>
                      <a:srgbClr val="1E7A5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5th Anniversary Showcase, The Phoenix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October 10, 2026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Jessica and Claire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Holiday recital at the studio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December 19, 2026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Claire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Summer teen jazz camp, capacity 20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July 10 to 24, 2027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Jessica</a:t>
                      </a:r>
                    </a:p>
                  </a:txBody>
                  <a:tcPr anchor="ctr" marT="38100" marB="38100" marL="88900" marR="88900">
                    <a:solidFill>
                      <a:srgbClr val="1B46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Scholarship recital with arts partner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Spring 2027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DCEFE7"/>
                          </a:solidFill>
                          <a:latin typeface="Calibri"/>
                        </a:rPr>
                        <a:t>Claire</a:t>
                      </a:r>
                    </a:p>
                  </a:txBody>
                  <a:tcPr anchor="ctr" marT="38100" marB="38100" marL="88900" marR="88900">
                    <a:solidFill>
                      <a:srgbClr val="20503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FB1"/>
                </a:solidFill>
                <a:latin typeface="Calibri"/>
              </a:rPr>
              <a:t>Year five is the milestone we have been building toward since the doors opened in 2021.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2026-02-12T10:00:00Z</dcterms:created>
  <dcterms:modified xsi:type="dcterms:W3CDTF">2026-02-15T10:00:00Z</dcterms:modified>
  <cp:category/>
</cp:coreProperties>
</file>