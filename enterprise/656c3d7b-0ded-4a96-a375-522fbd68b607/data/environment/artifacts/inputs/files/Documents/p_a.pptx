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Amount ($)</c:v>
                </c:pt>
              </c:strCache>
            </c:strRef>
          </c:tx>
          <c:spPr>
            <a:solidFill>
              <a:srgbClr val="0A9688"/>
            </a:solidFill>
          </c:spPr>
          <c:cat>
            <c:strRef>
              <c:f>Sheet1!$A$2:$A$3</c:f>
              <c:strCache>
                <c:ptCount val="2"/>
                <c:pt idx="0">
                  <c:v>Whitfield Foundation WFS-2024-0417</c:v>
                </c:pt>
                <c:pt idx="1">
                  <c:v>NGC NGC-2025-1182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420000</c:v>
                </c:pt>
                <c:pt idx="1">
                  <c:v>285000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Publications</c:v>
                </c:pt>
              </c:strCache>
            </c:strRef>
          </c:tx>
          <c:spPr>
            <a:solidFill>
              <a:srgbClr val="0A9688"/>
            </a:solidFill>
          </c:spP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Tenure Review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Dorothy Langston, Ph.D.  |  Associate Professor of Computational 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Haverstone University  |  Department of Computational Biology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977639"/>
            <a:ext cx="6702552" cy="45720"/>
          </a:xfrm>
          <a:prstGeom prst="rect">
            <a:avLst/>
          </a:prstGeom>
          <a:solidFill>
            <a:srgbClr val="0A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Dossier Period: 2017-2026  |  Submission Deadline: November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Dossier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560320" cy="18288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9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Faculty at Haverstone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4408" y="2286000"/>
            <a:ext cx="2560320" cy="18288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$705K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Total Grant Funding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2286000"/>
            <a:ext cx="2560320" cy="18288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1616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Peer-Reviewed Publications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78824" y="2286000"/>
            <a:ext cx="2560320" cy="18288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78824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Active Mentees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Research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Structural genomics: high-resolution modeling of protein complexes from genomic data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Protein interaction networks: topology, dynamics, and functional annotation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Computational methods: machine learning and graph-theoretic approaches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Translational impact: network-based targets for precision medicine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1371600"/>
            <a:ext cx="4572000" cy="3200400"/>
          </a:xfrm>
          <a:prstGeom prst="rect">
            <a:avLst/>
          </a:prstGeom>
          <a:solidFill>
            <a:srgbClr val="0A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6459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Focus Area:
Allosteric regulation in protein interaction networks - understanding how distal binding events propagate structural change across large molecular assemblies.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External Funding Portfolio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05840"/>
          <a:ext cx="6858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3977639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371600"/>
                <a:gridCol w="2926080"/>
                <a:gridCol w="13716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Agency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Ref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Whitfield 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WFS-2024-0417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$420,000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Apr 2024 - Mar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Natl. Genomics Consortium</a:t>
                      </a:r>
                    </a:p>
                  </a:txBody>
                  <a:tcPr>
                    <a:solidFill>
                      <a:srgbClr val="e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NGC-2025-1182</a:t>
                      </a:r>
                    </a:p>
                  </a:txBody>
                  <a:tcPr>
                    <a:solidFill>
                      <a:srgbClr val="e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$285,000</a:t>
                      </a:r>
                    </a:p>
                  </a:txBody>
                  <a:tcPr>
                    <a:solidFill>
                      <a:srgbClr val="e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Jan 2025 - Dec 2026</a:t>
                      </a:r>
                    </a:p>
                  </a:txBody>
                  <a:tcPr>
                    <a:solidFill>
                      <a:srgbClr val="e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e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Publication Record (2017-2025)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005840"/>
          <a:ext cx="9144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</a:rPr>
              <a:t>Total: 18 peer-reviewed publications  |  H-index: 12  |  Citations: 487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Selected Recent Publications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0515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011680"/>
                <a:gridCol w="4114800"/>
                <a:gridCol w="2743200"/>
                <a:gridCol w="1005840"/>
              </a:tblGrid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Authors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Journal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Cites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Langston D., Voss 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Allosteric coupling in multi-protein complexes: a network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Ashford J. Molecular Biology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In Revision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Langston D., Kirkland R., Chen W.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Topology-driven prediction of protein interaction hubs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PLOS Computational Biology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Okonkwo S., Langston 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Structural determinants of binding specificity in protein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Nucleic Acids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Langston D., Voss E., Kirkland R.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Comparative genomics of allosteric regulation across kingdoms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Journal of Molecular Biology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f2faf9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Langston D.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Network centrality as a predictor of functional protein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Bioinformatics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Teaching and Course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2286000"/>
          </a:xfrm>
          <a:prstGeom prst="rect">
            <a:avLst/>
          </a:prstGeom>
          <a:solidFill>
            <a:srgbClr val="0A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CBIO 320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Structural Genomics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303520" cy="2286000"/>
          </a:xfrm>
          <a:prstGeom prst="rect">
            <a:avLst/>
          </a:prstGeom>
          <a:solidFill>
            <a:srgbClr val="0A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CBIO 510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Advanced Protein Interaction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Developed CBIO 510 from the ground up in 2021, integrating graph-theoretic modules and live computational labs.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Student course ratings averaged 4.6/5.0 across all sections (2020-2025).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Supervised three undergraduate capstone projects and two independent study enrollments.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Contributed new genomics modules to the departmental core curriculum review (2023).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Mentorship and Advising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005840"/>
          <a:ext cx="9418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3931920"/>
              </a:tblGrid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Ryan Kirkland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Postdoctoral Fellow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Active - faculty job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Sarah Okonkwo</a:t>
                      </a:r>
                    </a:p>
                  </a:txBody>
                  <a:tcPr>
                    <a:solidFill>
                      <a:srgbClr val="e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Postdoctoral Fellow</a:t>
                      </a:r>
                    </a:p>
                  </a:txBody>
                  <a:tcPr>
                    <a:solidFill>
                      <a:srgbClr val="e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Active - 2nd year</a:t>
                      </a:r>
                    </a:p>
                  </a:txBody>
                  <a:tcPr>
                    <a:solidFill>
                      <a:srgbClr val="eafaf8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Wei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PhD Candidate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3rd year - qualifying exam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M. Torres</a:t>
                      </a:r>
                    </a:p>
                  </a:txBody>
                  <a:tcPr>
                    <a:solidFill>
                      <a:srgbClr val="e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PhD Student</a:t>
                      </a:r>
                    </a:p>
                  </a:txBody>
                  <a:tcPr>
                    <a:solidFill>
                      <a:srgbClr val="e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Active - 2nd year</a:t>
                      </a:r>
                    </a:p>
                  </a:txBody>
                  <a:tcPr>
                    <a:solidFill>
                      <a:srgbClr val="eafaf8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A. Patel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PhD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Active - 1st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J. Kim</a:t>
                      </a:r>
                    </a:p>
                  </a:txBody>
                  <a:tcPr>
                    <a:solidFill>
                      <a:srgbClr val="e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PhD Student</a:t>
                      </a:r>
                    </a:p>
                  </a:txBody>
                  <a:tcPr>
                    <a:solidFill>
                      <a:srgbClr val="e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Completed 2024</a:t>
                      </a:r>
                    </a:p>
                  </a:txBody>
                  <a:tcPr>
                    <a:solidFill>
                      <a:srgbClr val="e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Service and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749039" cy="4114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8755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University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35661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Faculty Senate representative (2022-2024)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Curriculum Committee, Dept. of Computational Biology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Graduate admissions committee (2021, 2023, 2025)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Search committee, two tenure-track hires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39" y="960120"/>
            <a:ext cx="3749039" cy="4114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79" y="98755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Professional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1508760"/>
            <a:ext cx="35661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Reviewer: Nature Methods, PLOS Comp. Bio., Bioinformatics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Program committee, ISMB 2024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Grant reviewer, NIH study section (2023)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Editorial board, Genomics &amp; Proteomics Letters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58" y="960120"/>
            <a:ext cx="3749039" cy="41148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8" y="98755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Community Outreach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8" y="1508760"/>
            <a:ext cx="35661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Science communication workshops, Thornfield High School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Co-organizer, NJ Women in STEM symposium 2025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Lab open-house for community college students (annual)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Tenure Review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849624"/>
            <a:ext cx="10149840" cy="73152"/>
          </a:xfrm>
          <a:prstGeom prst="rect">
            <a:avLst/>
          </a:prstGeom>
          <a:solidFill>
            <a:srgbClr val="0A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3474720"/>
            <a:ext cx="822960" cy="822960"/>
          </a:xfrm>
          <a:prstGeom prst="ellipse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F3D"/>
                </a:solidFill>
              </a:rPr>
              <a:t>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Dossier
Materials
Assembled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3474720"/>
            <a:ext cx="822960" cy="822960"/>
          </a:xfrm>
          <a:prstGeom prst="ellipse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6974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F3D"/>
                </a:solidFill>
              </a:rPr>
              <a:t>Nov 2,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Dossier
Submission
Deadline</a:t>
            </a:r>
          </a:p>
        </p:txBody>
      </p:sp>
      <p:sp>
        <p:nvSpPr>
          <p:cNvPr id="11" name="Oval 10"/>
          <p:cNvSpPr/>
          <p:nvPr/>
        </p:nvSpPr>
        <p:spPr>
          <a:xfrm>
            <a:off x="4983480" y="3474720"/>
            <a:ext cx="822960" cy="822960"/>
          </a:xfrm>
          <a:prstGeom prst="ellipse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6974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F3D"/>
                </a:solidFill>
              </a:rPr>
              <a:t>Jan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External
Review
Letters</a:t>
            </a:r>
          </a:p>
        </p:txBody>
      </p:sp>
      <p:sp>
        <p:nvSpPr>
          <p:cNvPr id="14" name="Oval 13"/>
          <p:cNvSpPr/>
          <p:nvPr/>
        </p:nvSpPr>
        <p:spPr>
          <a:xfrm>
            <a:off x="7178040" y="3474720"/>
            <a:ext cx="822960" cy="822960"/>
          </a:xfrm>
          <a:prstGeom prst="ellipse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6974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F3D"/>
                </a:solidFill>
              </a:rPr>
              <a:t>Feb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Dept.
Committee
Vote</a:t>
            </a:r>
          </a:p>
        </p:txBody>
      </p:sp>
      <p:sp>
        <p:nvSpPr>
          <p:cNvPr id="17" name="Oval 16"/>
          <p:cNvSpPr/>
          <p:nvPr/>
        </p:nvSpPr>
        <p:spPr>
          <a:xfrm>
            <a:off x="9372600" y="3474720"/>
            <a:ext cx="822960" cy="822960"/>
          </a:xfrm>
          <a:prstGeom prst="ellipse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6974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F3D"/>
                </a:solidFill>
              </a:rPr>
              <a:t>Mar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</a:rPr>
              <a:t>Dean
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Thank you for your consideration.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3200400"/>
            <a:ext cx="6702552" cy="64008"/>
          </a:xfrm>
          <a:prstGeom prst="rect">
            <a:avLst/>
          </a:prstGeom>
          <a:solidFill>
            <a:srgbClr val="0A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dorothy.langston@Finthesiss.ai  |  Haverstone University  |  Department of Computational Biology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