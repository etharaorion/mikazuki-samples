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37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0E9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FD9CB"/>
                </a:solidFill>
                <a:latin typeface="Calibri"/>
              </a:rPr>
              <a:t>COLLECTION DIGITISATION INITIATIVE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Phase 2 Progress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F2A33"/>
                </a:solidFill>
                <a:latin typeface="Calibri"/>
              </a:rPr>
              <a:t>Prepared by Stefan Koenig, Deputy Director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D6B77"/>
                </a:solidFill>
                <a:latin typeface="Calibri"/>
              </a:rPr>
              <a:t>For the executive team, reporting period to February 2026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A7D63"/>
                </a:solidFill>
                <a:latin typeface="Calibri"/>
              </a:rPr>
              <a:t>Funded by the EU cultural heritage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37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Where we 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2542032" cy="2468880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2542032" cy="109728"/>
          </a:xfrm>
          <a:prstGeom prst="rect">
            <a:avLst/>
          </a:prstGeom>
          <a:solidFill>
            <a:srgbClr val="0E9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2542032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E9F7E"/>
                </a:solidFill>
                <a:latin typeface="Calibri"/>
              </a:rPr>
              <a:t>11,840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254203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2A33"/>
                </a:solidFill>
                <a:latin typeface="Calibri"/>
              </a:rPr>
              <a:t>objects digitised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11880"/>
            <a:ext cx="2542032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D6B77"/>
                </a:solidFill>
                <a:latin typeface="Calibri"/>
              </a:rPr>
              <a:t>of 18,500 in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9584" y="1920240"/>
            <a:ext cx="2542032" cy="2468880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9584" y="1920240"/>
            <a:ext cx="2542032" cy="109728"/>
          </a:xfrm>
          <a:prstGeom prst="rect">
            <a:avLst/>
          </a:prstGeom>
          <a:solidFill>
            <a:srgbClr val="37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2286000"/>
            <a:ext cx="2542032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7506B"/>
                </a:solidFill>
                <a:latin typeface="Calibri"/>
              </a:rPr>
              <a:t>64%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3200400"/>
            <a:ext cx="254203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2A33"/>
                </a:solidFill>
                <a:latin typeface="Calibri"/>
              </a:rPr>
              <a:t>of phase 2 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3611880"/>
            <a:ext cx="2542032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D6B77"/>
                </a:solidFill>
                <a:latin typeface="Calibri"/>
              </a:rPr>
              <a:t>up 9 points this quarter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920240"/>
            <a:ext cx="2542032" cy="2468880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920240"/>
            <a:ext cx="2542032" cy="109728"/>
          </a:xfrm>
          <a:prstGeom prst="rect">
            <a:avLst/>
          </a:prstGeom>
          <a:solidFill>
            <a:srgbClr val="E09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2286000"/>
            <a:ext cx="2542032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0922F"/>
                </a:solidFill>
                <a:latin typeface="Calibri"/>
              </a:rPr>
              <a:t>2,360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3200400"/>
            <a:ext cx="254203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2A33"/>
                </a:solidFill>
                <a:latin typeface="Calibri"/>
              </a:rPr>
              <a:t>objects per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3611880"/>
            <a:ext cx="2542032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D6B77"/>
                </a:solidFill>
                <a:latin typeface="Calibri"/>
              </a:rPr>
              <a:t>average capture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42832" y="1920240"/>
            <a:ext cx="2542032" cy="2468880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42832" y="1920240"/>
            <a:ext cx="2542032" cy="109728"/>
          </a:xfrm>
          <a:prstGeom prst="rect">
            <a:avLst/>
          </a:prstGeom>
          <a:solidFill>
            <a:srgbClr val="0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2832" y="2286000"/>
            <a:ext cx="2542032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A7D63"/>
                </a:solidFill>
                <a:latin typeface="Calibri"/>
              </a:rPr>
              <a:t>97%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3200400"/>
            <a:ext cx="254203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2A33"/>
                </a:solidFill>
                <a:latin typeface="Calibri"/>
              </a:rPr>
              <a:t>first pass QC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832" y="3611880"/>
            <a:ext cx="2542032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D6B77"/>
                </a:solidFill>
                <a:latin typeface="Calibri"/>
              </a:rPr>
              <a:t>approved without rework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7506B"/>
                </a:solidFill>
                <a:latin typeface="Calibri"/>
              </a:rPr>
              <a:t>Cumulative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D6B77"/>
                </a:solidFill>
                <a:latin typeface="Calibri"/>
              </a:rPr>
              <a:t>Objects digitised since the start of phase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715000"/>
            <a:ext cx="10607040" cy="18288"/>
          </a:xfrm>
          <a:prstGeom prst="rect">
            <a:avLst/>
          </a:prstGeom>
          <a:solidFill>
            <a:srgbClr val="CFD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0200" y="5010912"/>
            <a:ext cx="1005840" cy="338328"/>
          </a:xfrm>
          <a:prstGeom prst="rect">
            <a:avLst/>
          </a:prstGeom>
          <a:solidFill>
            <a:srgbClr val="0E9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700016"/>
            <a:ext cx="201168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7506B"/>
                </a:solidFill>
                <a:latin typeface="Calibri"/>
              </a:rPr>
              <a:t>1,200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949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D6B77"/>
                </a:solidFill>
                <a:latin typeface="Calibri"/>
              </a:rPr>
              <a:t>Oct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4362450"/>
            <a:ext cx="1005840" cy="986790"/>
          </a:xfrm>
          <a:prstGeom prst="rect">
            <a:avLst/>
          </a:prstGeom>
          <a:solidFill>
            <a:srgbClr val="0E9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4051554"/>
            <a:ext cx="201168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7506B"/>
                </a:solidFill>
                <a:latin typeface="Calibri"/>
              </a:rPr>
              <a:t>3,500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53949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D6B77"/>
                </a:solidFill>
                <a:latin typeface="Calibri"/>
              </a:rPr>
              <a:t>Nov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3685794"/>
            <a:ext cx="1005840" cy="1663446"/>
          </a:xfrm>
          <a:prstGeom prst="rect">
            <a:avLst/>
          </a:prstGeom>
          <a:solidFill>
            <a:srgbClr val="0E9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3374898"/>
            <a:ext cx="201168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7506B"/>
                </a:solidFill>
                <a:latin typeface="Calibri"/>
              </a:rPr>
              <a:t>5,900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53949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D6B77"/>
                </a:solidFill>
                <a:latin typeface="Calibri"/>
              </a:rPr>
              <a:t>Dec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2924556"/>
            <a:ext cx="1005840" cy="2424684"/>
          </a:xfrm>
          <a:prstGeom prst="rect">
            <a:avLst/>
          </a:prstGeom>
          <a:solidFill>
            <a:srgbClr val="0E9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613660"/>
            <a:ext cx="201168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7506B"/>
                </a:solidFill>
                <a:latin typeface="Calibri"/>
              </a:rPr>
              <a:t>8,600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3949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D6B77"/>
                </a:solidFill>
                <a:latin typeface="Calibri"/>
              </a:rPr>
              <a:t>Jan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46920" y="2011071"/>
            <a:ext cx="1005840" cy="3338169"/>
          </a:xfrm>
          <a:prstGeom prst="rect">
            <a:avLst/>
          </a:prstGeom>
          <a:solidFill>
            <a:srgbClr val="0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700175"/>
            <a:ext cx="201168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7506B"/>
                </a:solidFill>
                <a:latin typeface="Calibri"/>
              </a:rPr>
              <a:t>11,840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3949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D6B77"/>
                </a:solidFill>
                <a:latin typeface="Calibri"/>
              </a:rPr>
              <a:t>Feb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7506B"/>
                </a:solidFill>
                <a:latin typeface="Calibri"/>
              </a:rPr>
              <a:t>Progress by collection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2743200" cy="701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F2A33"/>
                </a:solidFill>
                <a:latin typeface="Calibri"/>
              </a:rPr>
              <a:t>Photography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863547"/>
            <a:ext cx="6766560" cy="350520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566160" y="1863547"/>
            <a:ext cx="5616244" cy="350520"/>
          </a:xfrm>
          <a:prstGeom prst="rect">
            <a:avLst/>
          </a:prstGeom>
          <a:solidFill>
            <a:srgbClr val="0E9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1737360"/>
            <a:ext cx="1097280" cy="701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7506B"/>
                </a:solidFill>
                <a:latin typeface="Calibri"/>
              </a:rPr>
              <a:t>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38400"/>
            <a:ext cx="2743200" cy="701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F2A33"/>
                </a:solidFill>
                <a:latin typeface="Calibri"/>
              </a:rPr>
              <a:t>Contemporary painting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564587"/>
            <a:ext cx="6766560" cy="350520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2564587"/>
            <a:ext cx="4871923" cy="350520"/>
          </a:xfrm>
          <a:prstGeom prst="rect">
            <a:avLst/>
          </a:prstGeom>
          <a:solidFill>
            <a:srgbClr val="37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0" y="2438400"/>
            <a:ext cx="1097280" cy="701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7506B"/>
                </a:solidFill>
                <a:latin typeface="Calibri"/>
              </a:rPr>
              <a:t>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9440"/>
            <a:ext cx="2743200" cy="701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F2A33"/>
                </a:solidFill>
                <a:latin typeface="Calibri"/>
              </a:rPr>
              <a:t>Posters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3265627"/>
            <a:ext cx="6766560" cy="350520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3265627"/>
            <a:ext cx="4668926" cy="350520"/>
          </a:xfrm>
          <a:prstGeom prst="rect">
            <a:avLst/>
          </a:prstGeom>
          <a:solidFill>
            <a:srgbClr val="6A5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0" y="3139440"/>
            <a:ext cx="1097280" cy="701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7506B"/>
                </a:solidFill>
                <a:latin typeface="Calibri"/>
              </a:rPr>
              <a:t>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40480"/>
            <a:ext cx="2743200" cy="701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F2A33"/>
                </a:solidFill>
                <a:latin typeface="Calibri"/>
              </a:rPr>
              <a:t>Works on paper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3966667"/>
            <a:ext cx="6766560" cy="350520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66160" y="3966667"/>
            <a:ext cx="4127601" cy="350520"/>
          </a:xfrm>
          <a:prstGeom prst="rect">
            <a:avLst/>
          </a:prstGeom>
          <a:solidFill>
            <a:srgbClr val="E09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0" y="3840480"/>
            <a:ext cx="1097280" cy="701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7506B"/>
                </a:solidFill>
                <a:latin typeface="Calibri"/>
              </a:rPr>
              <a:t>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41520"/>
            <a:ext cx="2743200" cy="701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F2A33"/>
                </a:solidFill>
                <a:latin typeface="Calibri"/>
              </a:rPr>
              <a:t>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4667707"/>
            <a:ext cx="6766560" cy="350520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66160" y="4667707"/>
            <a:ext cx="3721608" cy="350520"/>
          </a:xfrm>
          <a:prstGeom prst="rect">
            <a:avLst/>
          </a:prstGeom>
          <a:solidFill>
            <a:srgbClr val="48A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0" y="4541520"/>
            <a:ext cx="1097280" cy="701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7506B"/>
                </a:solidFill>
                <a:latin typeface="Calibri"/>
              </a:rPr>
              <a:t>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42560"/>
            <a:ext cx="2743200" cy="701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F2A33"/>
                </a:solidFill>
                <a:latin typeface="Calibri"/>
              </a:rPr>
              <a:t>Sculpture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5368747"/>
            <a:ext cx="6766560" cy="350520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66160" y="5368747"/>
            <a:ext cx="3247948" cy="350520"/>
          </a:xfrm>
          <a:prstGeom prst="rect">
            <a:avLst/>
          </a:prstGeom>
          <a:solidFill>
            <a:srgbClr val="C05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20" y="5242560"/>
            <a:ext cx="1097280" cy="701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7506B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7506B"/>
                </a:solidFill>
                <a:latin typeface="Calibri"/>
              </a:rPr>
              <a:t>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15600" cy="585216"/>
          </a:xfrm>
          <a:prstGeom prst="rect">
            <a:avLst/>
          </a:prstGeom>
          <a:solidFill>
            <a:srgbClr val="0E9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54480"/>
            <a:ext cx="530352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Milestone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1554480"/>
            <a:ext cx="256032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62288" y="1554480"/>
            <a:ext cx="210312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39696"/>
            <a:ext cx="10515600" cy="585216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39696"/>
            <a:ext cx="530352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Contemporary painting batch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39696"/>
            <a:ext cx="256032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February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139696"/>
            <a:ext cx="210312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Complete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724912"/>
            <a:ext cx="10515600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724912"/>
            <a:ext cx="530352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Photography archive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724912"/>
            <a:ext cx="256032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January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24912"/>
            <a:ext cx="210312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Complete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310128"/>
            <a:ext cx="10515600" cy="585216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310128"/>
            <a:ext cx="530352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Works on paper, second tranche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310128"/>
            <a:ext cx="256032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November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3310128"/>
            <a:ext cx="210312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Scheduled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895344"/>
            <a:ext cx="10515600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895344"/>
            <a:ext cx="530352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Design collection capture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895344"/>
            <a:ext cx="256032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December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3895344"/>
            <a:ext cx="210312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Scheduled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480560"/>
            <a:ext cx="10515600" cy="585216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80560"/>
            <a:ext cx="530352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Phase 2 sign off and final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480560"/>
            <a:ext cx="256032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31 March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4480560"/>
            <a:ext cx="210312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On track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Next steps to close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E8EEF4"/>
                </a:solidFill>
                <a:latin typeface="Calibri"/>
              </a:rPr>
              <a:t>•  </a:t>
            </a:r>
            <a:r>
              <a:rPr sz="1800">
                <a:solidFill>
                  <a:srgbClr val="E8EEF4"/>
                </a:solidFill>
                <a:latin typeface="Calibri"/>
              </a:rPr>
              <a:t>Hold throughput at 2,300 objects per month through the autumn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E8EEF4"/>
                </a:solidFill>
                <a:latin typeface="Calibri"/>
              </a:rPr>
              <a:t>•  </a:t>
            </a:r>
            <a:r>
              <a:rPr sz="1800">
                <a:solidFill>
                  <a:srgbClr val="E8EEF4"/>
                </a:solidFill>
                <a:latin typeface="Calibri"/>
              </a:rPr>
              <a:t>Complete works on paper and design capture by the end of 2026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E8EEF4"/>
                </a:solidFill>
                <a:latin typeface="Calibri"/>
              </a:rPr>
              <a:t>•  </a:t>
            </a:r>
            <a:r>
              <a:rPr sz="1800">
                <a:solidFill>
                  <a:srgbClr val="E8EEF4"/>
                </a:solidFill>
                <a:latin typeface="Calibri"/>
              </a:rPr>
              <a:t>Run the final quality audit and metadata reconciliation in early 2027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E8EEF4"/>
                </a:solidFill>
                <a:latin typeface="Calibri"/>
              </a:rPr>
              <a:t>•  </a:t>
            </a:r>
            <a:r>
              <a:rPr sz="1800">
                <a:solidFill>
                  <a:srgbClr val="E8EEF4"/>
                </a:solidFill>
                <a:latin typeface="Calibri"/>
              </a:rPr>
              <a:t>Submit the EU partner sign off and final report by 31 March 2027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9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37506B"/>
                </a:solidFill>
                <a:latin typeface="Calibri"/>
              </a:rPr>
              <a:t>Opening the collection to those who will never walk through the doors.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D6B77"/>
                </a:solidFill>
                <a:latin typeface="Calibri"/>
              </a:rPr>
              <a:t>Digitisation Initiative, phase 2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Joyce Padilla</dc:creator>
  <cp:keywords/>
  <dc:description/>
  <cp:lastModifiedBy>Joyce Padilla</cp:lastModifiedBy>
  <cp:revision>1</cp:revision>
  <dcterms:created xsi:type="dcterms:W3CDTF">2026-02-15T09:30:00Z</dcterms:created>
  <dcterms:modified xsi:type="dcterms:W3CDTF">2026-02-15T09:30:00Z</dcterms:modified>
  <cp:category/>
</cp:coreProperties>
</file>