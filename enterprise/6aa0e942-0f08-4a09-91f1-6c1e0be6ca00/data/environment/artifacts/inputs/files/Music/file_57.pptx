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08A2D"/>
                </a:solidFill>
                <a:latin typeface="Georgia"/>
              </a:rPr>
              <a:t>A PUBLIC 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42416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2C34"/>
                </a:solidFill>
                <a:latin typeface="Georgia"/>
              </a:rPr>
              <a:t>Women Artists of the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2C34"/>
                </a:solidFill>
                <a:latin typeface="Georgia"/>
              </a:rPr>
              <a:t>Vienna Secession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6B7748"/>
                </a:solidFill>
                <a:latin typeface="Georgia"/>
              </a:rPr>
              <a:t>A parallel movement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3271D"/>
                </a:solidFill>
                <a:latin typeface="Georgia"/>
              </a:rPr>
              <a:t>Dr. Joyce Padilla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A6C5D"/>
                </a:solidFill>
                <a:latin typeface="Georgia"/>
              </a:rPr>
              <a:t>12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457200" cy="73152"/>
          </a:xfrm>
          <a:prstGeom prst="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7C2C34"/>
                </a:solidFill>
                <a:latin typeface="Georgia"/>
              </a:rPr>
              <a:t>The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33271D"/>
                </a:solidFill>
                <a:latin typeface="Georgia"/>
              </a:rPr>
              <a:t>•  </a:t>
            </a:r>
            <a:r>
              <a:rPr sz="1900">
                <a:solidFill>
                  <a:srgbClr val="33271D"/>
                </a:solidFill>
                <a:latin typeface="Georgia"/>
              </a:rPr>
              <a:t>The standard account of the Secession is written around a small circle of men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33271D"/>
                </a:solidFill>
                <a:latin typeface="Georgia"/>
              </a:rPr>
              <a:t>•  </a:t>
            </a:r>
            <a:r>
              <a:rPr sz="1900">
                <a:solidFill>
                  <a:srgbClr val="33271D"/>
                </a:solidFill>
                <a:latin typeface="Georgia"/>
              </a:rPr>
              <a:t>A wider field of women painted, designed, and exhibited under conditions meant to exclude them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33271D"/>
                </a:solidFill>
                <a:latin typeface="Georgia"/>
              </a:rPr>
              <a:t>•  </a:t>
            </a:r>
            <a:r>
              <a:rPr sz="1900">
                <a:solidFill>
                  <a:srgbClr val="33271D"/>
                </a:solidFill>
                <a:latin typeface="Georgia"/>
              </a:rPr>
              <a:t>Read together, their careers form a parallel Secession running alongside the official one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33271D"/>
                </a:solidFill>
                <a:latin typeface="Georgia"/>
              </a:rPr>
              <a:t>•  </a:t>
            </a:r>
            <a:r>
              <a:rPr sz="1900">
                <a:solidFill>
                  <a:srgbClr val="33271D"/>
                </a:solidFill>
                <a:latin typeface="Georgia"/>
              </a:rPr>
              <a:t>The aim is not to add names to a list, it is to say the movement cannot be read without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7C2C34"/>
                </a:solidFill>
                <a:latin typeface="Georgia"/>
              </a:rPr>
              <a:t>Three figures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337560" cy="4023360"/>
          </a:xfrm>
          <a:prstGeom prst="rect">
            <a:avLst/>
          </a:prstGeom>
          <a:solidFill>
            <a:srgbClr val="FBF7F0"/>
          </a:solidFill>
          <a:ln w="12700">
            <a:solidFill>
              <a:srgbClr val="E4D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337560" cy="109728"/>
          </a:xfrm>
          <a:prstGeom prst="rect">
            <a:avLst/>
          </a:prstGeom>
          <a:solidFill>
            <a:srgbClr val="7C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288036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D1F25"/>
                </a:solidFill>
                <a:latin typeface="Georgia"/>
              </a:rPr>
              <a:t>Broncia Koller-Pinell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00400"/>
            <a:ext cx="288036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271D"/>
                </a:solidFill>
                <a:latin typeface="Georgia"/>
              </a:rPr>
              <a:t>At the centre of this world and largely written out of it. Her interiors and portraits carry the chromatic daring usually credited to her male colleagues.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3337560" cy="4023360"/>
          </a:xfrm>
          <a:prstGeom prst="rect">
            <a:avLst/>
          </a:prstGeom>
          <a:solidFill>
            <a:srgbClr val="FBF7F0"/>
          </a:solidFill>
          <a:ln w="12700">
            <a:solidFill>
              <a:srgbClr val="E4D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3337560" cy="109728"/>
          </a:xfrm>
          <a:prstGeom prst="rect">
            <a:avLst/>
          </a:prstGeom>
          <a:solidFill>
            <a:srgbClr val="7C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288036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D1F25"/>
                </a:solidFill>
                <a:latin typeface="Georgia"/>
              </a:rPr>
              <a:t>Helene Funke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200400"/>
            <a:ext cx="288036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271D"/>
                </a:solidFill>
                <a:latin typeface="Georgia"/>
              </a:rPr>
              <a:t>Brought a bolder palette back from her years abroad, pressing colour past the limits the academy was willing to permit.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337560" cy="4023360"/>
          </a:xfrm>
          <a:prstGeom prst="rect">
            <a:avLst/>
          </a:prstGeom>
          <a:solidFill>
            <a:srgbClr val="FBF7F0"/>
          </a:solidFill>
          <a:ln w="12700">
            <a:solidFill>
              <a:srgbClr val="E4D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337560" cy="109728"/>
          </a:xfrm>
          <a:prstGeom prst="rect">
            <a:avLst/>
          </a:prstGeom>
          <a:solidFill>
            <a:srgbClr val="7C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148840"/>
            <a:ext cx="288036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5D1F25"/>
                </a:solidFill>
                <a:latin typeface="Georgia"/>
              </a:rPr>
              <a:t>Teresa Feodorowna 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200400"/>
            <a:ext cx="288036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271D"/>
                </a:solidFill>
                <a:latin typeface="Georgia"/>
              </a:rPr>
              <a:t>Made sculpture that refused the modesty expected of her, claiming scale and subject on her own terms.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08A2D"/>
                </a:solidFill>
                <a:latin typeface="Georgia"/>
              </a:rPr>
              <a:t>THE LATE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3ECE0"/>
                </a:solidFill>
                <a:latin typeface="Georgia"/>
              </a:rPr>
              <a:t>What the period treated as ornament was in fact a sustained inquiry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3ECE0"/>
                </a:solidFill>
                <a:latin typeface="Georgia"/>
              </a:rPr>
              <a:t>into how the eye assembles a world from fragments.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E7C9B6"/>
                </a:solidFill>
                <a:latin typeface="Georgia"/>
              </a:rPr>
              <a:t>Broken colour and built surface read as a theory of perception, not decoration.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7C2C34"/>
                </a:solidFill>
                <a:latin typeface="Georgia"/>
              </a:rPr>
              <a:t>Representation in the exhibition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7A6C5D"/>
                </a:solidFill>
                <a:latin typeface="Georgia"/>
              </a:rPr>
              <a:t>Works in the women's rooms, by medium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5950" y="2961043"/>
            <a:ext cx="1211580" cy="2388197"/>
          </a:xfrm>
          <a:prstGeom prst="rect">
            <a:avLst/>
          </a:prstGeom>
          <a:solidFill>
            <a:srgbClr val="7C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50147"/>
            <a:ext cx="242316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D1F25"/>
                </a:solidFill>
                <a:latin typeface="Georgia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394960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A6C5D"/>
                </a:solidFill>
                <a:latin typeface="Georgia"/>
              </a:rPr>
              <a:t>Painting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9110" y="2264485"/>
            <a:ext cx="1211580" cy="3084755"/>
          </a:xfrm>
          <a:prstGeom prst="rect">
            <a:avLst/>
          </a:prstGeom>
          <a:solidFill>
            <a:srgbClr val="5D1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953589"/>
            <a:ext cx="242316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D1F25"/>
                </a:solidFill>
                <a:latin typeface="Georgia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5394960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A6C5D"/>
                </a:solidFill>
                <a:latin typeface="Georgia"/>
              </a:rPr>
              <a:t>Works on paper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32270" y="4453666"/>
            <a:ext cx="1211580" cy="895574"/>
          </a:xfrm>
          <a:prstGeom prst="rect">
            <a:avLst/>
          </a:prstGeom>
          <a:solidFill>
            <a:srgbClr val="6B7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4142770"/>
            <a:ext cx="242316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D1F25"/>
                </a:solidFill>
                <a:latin typeface="Georgia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394960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A6C5D"/>
                </a:solidFill>
                <a:latin typeface="Georgia"/>
              </a:rPr>
              <a:t>Sculpture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55430" y="3956125"/>
            <a:ext cx="1211580" cy="1393115"/>
          </a:xfrm>
          <a:prstGeom prst="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3645229"/>
            <a:ext cx="242316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D1F25"/>
                </a:solidFill>
                <a:latin typeface="Georgia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5394960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A6C5D"/>
                </a:solidFill>
                <a:latin typeface="Georgia"/>
              </a:rPr>
              <a:t>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7C2C34"/>
                </a:solidFill>
                <a:latin typeface="Georgia"/>
              </a:rPr>
              <a:t>The museum has a duty to show the period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7C2C34"/>
                </a:solidFill>
                <a:latin typeface="Georgia"/>
              </a:rPr>
              <a:t>as it actually was.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7A6C5D"/>
                </a:solidFill>
                <a:latin typeface="Georgia"/>
              </a:rPr>
              <a:t>Dr. Joyce Padilla, Vienna,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Joyce Padilla</dc:creator>
  <cp:keywords/>
  <dc:description/>
  <cp:lastModifiedBy>Joyce Padilla</cp:lastModifiedBy>
  <cp:revision>1</cp:revision>
  <dcterms:created xsi:type="dcterms:W3CDTF">2026-02-15T09:30:00Z</dcterms:created>
  <dcterms:modified xsi:type="dcterms:W3CDTF">2026-02-15T09:30:00Z</dcterms:modified>
  <cp:category/>
</cp:coreProperties>
</file>