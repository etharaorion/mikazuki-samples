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ELA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  <a:ln>
                <a:noFill/>
              </a:ln>
            </c:spPr>
          </c:dPt>
          <c:dPt>
            <c:idx val="1"/>
            <c:spPr>
              <a:solidFill>
                <a:srgbClr val="1F3A5F"/>
              </a:solidFill>
              <a:ln>
                <a:noFill/>
              </a:ln>
            </c:spPr>
          </c:dPt>
          <c:dPt>
            <c:idx val="2"/>
            <c:spPr>
              <a:solidFill>
                <a:srgbClr val="2E7D5B"/>
              </a:solidFill>
              <a:ln>
                <a:noFill/>
              </a:ln>
            </c:spPr>
          </c:dPt>
          <c:dPt>
            <c:idx val="3"/>
            <c:spPr>
              <a:solidFill>
                <a:srgbClr val="C8A24B"/>
              </a:solidFill>
              <a:ln>
                <a:noFill/>
              </a:ln>
            </c:spPr>
          </c:dPt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 goal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36.1</c:v>
                </c:pt>
                <c:pt idx="1">
                  <c:v>38.2</c:v>
                </c:pt>
                <c:pt idx="2">
                  <c:v>40.9</c:v>
                </c:pt>
                <c:pt idx="3">
                  <c:v>45.0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000" b="1">
                  <a:solidFill>
                    <a:srgbClr val="262B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5.0"/>
          <c:min val="0.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ELA proficiency</c:v>
                </c:pt>
              </c:strCache>
            </c:strRef>
          </c:tx>
          <c:spPr>
            <a:ln w="33020">
              <a:solidFill>
                <a:srgbClr val="1F3A5F"/>
              </a:solidFill>
            </a:ln>
          </c:spPr>
          <c:marker>
            <c:symbol val="circle"/>
            <c:size val="7"/>
            <c:spPr>
              <a:solidFill>
                <a:srgbClr val="1F3A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goal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33.8</c:v>
                </c:pt>
                <c:pt idx="1">
                  <c:v>36.1</c:v>
                </c:pt>
                <c:pt idx="2">
                  <c:v>38.2</c:v>
                </c:pt>
                <c:pt idx="3">
                  <c:v>40.9</c:v>
                </c:pt>
                <c:pt idx="4">
                  <c:v>45.0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Reading on grade by Gr.3</c:v>
                </c:pt>
              </c:strCache>
            </c:strRef>
          </c:tx>
          <c:spPr>
            <a:ln w="33020">
              <a:solidFill>
                <a:srgbClr val="2E7D5B"/>
              </a:solidFill>
            </a:ln>
          </c:spPr>
          <c:marker>
            <c:symbol val="circle"/>
            <c:size val="7"/>
            <c:spPr>
              <a:solidFill>
                <a:srgbClr val="2E7D5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2022</c:v>
                </c:pt>
                <c:pt idx="1">
                  <c:v>2023</c:v>
                </c:pt>
                <c:pt idx="2">
                  <c:v>2024</c:v>
                </c:pt>
                <c:pt idx="3">
                  <c:v>2025</c:v>
                </c:pt>
                <c:pt idx="4">
                  <c:v>2026 goal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28.0</c:v>
                </c:pt>
                <c:pt idx="1">
                  <c:v>31.5</c:v>
                </c:pt>
                <c:pt idx="2">
                  <c:v>34.2</c:v>
                </c:pt>
                <c:pt idx="3">
                  <c:v>37.6</c:v>
                </c:pt>
                <c:pt idx="4">
                  <c:v>42.0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6EC"/>
            </a:solidFill>
          </a:ln>
        </c:spPr>
        <c:txPr>
          <a:bodyPr/>
          <a:lstStyle/>
          <a:p>
            <a:pPr>
              <a:defRPr sz="1000">
                <a:solidFill>
                  <a:srgbClr val="262B33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5.0"/>
          <c:min val="0.0"/>
        </c:scaling>
        <c:delete val="0"/>
        <c:axPos val="l"/>
        <c:majorGridlines>
          <c:spPr>
            <a:ln w="6350">
              <a:solidFill>
                <a:srgbClr val="ECEF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B7480"/>
                </a:solidFill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dPt>
            <c:idx val="0"/>
            <c:spPr>
              <a:solidFill>
                <a:srgbClr val="1F3A5F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C8A24B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2E7D5B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C0492F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Sheet1!$A$2:$A$5</c:f>
              <c:strCache>
                <c:ptCount val="4"/>
                <c:pt idx="0">
                  <c:v>English</c:v>
                </c:pt>
                <c:pt idx="1">
                  <c:v>Spanish</c:v>
                </c:pt>
                <c:pt idx="2">
                  <c:v>Portuguese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26</c:v>
                </c:pt>
                <c:pt idx="2">
                  <c:v>11</c:v>
                </c:pt>
                <c:pt idx="3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000">
          <a:solidFill>
            <a:srgbClr val="6B7480"/>
          </a:solidFill>
          <a:latin typeface="Segoe U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3291840"/>
            <a:ext cx="3291840" cy="3291840"/>
          </a:xfrm>
          <a:prstGeom prst="ellipse">
            <a:avLst/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128016" cy="109728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8A24B"/>
                </a:solidFill>
                <a:latin typeface="Segoe UI"/>
              </a:rPr>
              <a:t>FAMILY LITERACY 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874519"/>
            <a:ext cx="96926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Reading Together at Home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9509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D7E0EE"/>
                </a:solidFill>
                <a:latin typeface="Segoe UI"/>
              </a:rPr>
              <a:t>Small habits, big readers - the 20-minute promise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4892040"/>
            <a:ext cx="7498079" cy="18288"/>
          </a:xfrm>
          <a:prstGeom prst="rect">
            <a:avLst/>
          </a:prstGeom>
          <a:solidFill>
            <a:srgbClr val="3A57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7492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Bridgeport Avenue Elementary School  ·  West End, Hartford CT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Wednesday, October 14, 2026  ·  6:00 - 7:30 PM  ·  Cafeteria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C6D3E6"/>
                </a:solidFill>
                <a:latin typeface="Segoe UI"/>
              </a:rPr>
              <a:t>Hosted by Shanice R. Giles, Principal  ·  Interpretation in Spanish &amp; Portuguese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WHY WE'RE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Why Twenty Minutes a Night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600200"/>
            <a:ext cx="22791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F3A5F"/>
                </a:solidFill>
                <a:latin typeface="Segoe UI"/>
              </a:rPr>
              <a:t>20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203704"/>
            <a:ext cx="22334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Daily home-reading goal, any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899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4899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6734" y="1600200"/>
            <a:ext cx="22791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E7D5B"/>
                </a:solidFill>
                <a:latin typeface="Segoe UI"/>
              </a:rPr>
              <a:t>+2.7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5878" y="2203704"/>
            <a:ext cx="22334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School ELA proficiency points gained,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9506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2804" y="1600200"/>
            <a:ext cx="22791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C8A24B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2203704"/>
            <a:ext cx="22334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Family literacy nights this year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1130" y="1417320"/>
            <a:ext cx="2644902" cy="1371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041130" y="1581912"/>
            <a:ext cx="64008" cy="1042416"/>
          </a:xfrm>
          <a:prstGeom prst="roundRect">
            <a:avLst>
              <a:gd name="adj" fmla="val 50000"/>
            </a:avLst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8874" y="1600200"/>
            <a:ext cx="227914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74B78"/>
                </a:solidFill>
                <a:latin typeface="Segoe UI"/>
              </a:rP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8018" y="2203704"/>
            <a:ext cx="223342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7480"/>
                </a:solidFill>
                <a:latin typeface="Segoe UI"/>
              </a:rPr>
              <a:t>K-5 classrooms in structured literacy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5486400" cy="32461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8952" y="32095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1729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School-wide ELA Proficiency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520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Percent of students at or above grade level</a:t>
            </a:r>
          </a:p>
        </p:txBody>
      </p:sp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777240" y="3611880"/>
          <a:ext cx="4983480" cy="2423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263640" y="2971800"/>
            <a:ext cx="5422392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59" y="32461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209544"/>
            <a:ext cx="4873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What this means for your family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59" y="3721608"/>
            <a:ext cx="4983479" cy="23134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Children read to at home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build vocabulary, stamina, and confidence.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Decodable readers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are matched to your child's exact reading level.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Praise the effort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not just the right answer - readers take risks.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It compounds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20 minutes a night is ~60 hours of reading a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THE TREND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The Reading Gap We're Closing -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6766560" cy="48463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60934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572768"/>
            <a:ext cx="6126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Proficiency Trend vs.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20240"/>
            <a:ext cx="6126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Spring summative results, school-wide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2148840"/>
          <a:ext cx="621792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43800" y="1371600"/>
            <a:ext cx="4142232" cy="4846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18120" y="16459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609344"/>
            <a:ext cx="3593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Reading the chart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121408"/>
            <a:ext cx="3703320" cy="3913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Grades K-2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are where reading is built - home minutes matter most here.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By Grade 3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reading shifts from learning-to-read to reading-to-learn.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Every point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is a real child who can now access their textbooks.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Our 2026 goal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45% proficient - within reach if home reading holds.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TONIGHT'S TOOLKIT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Three Strategies to Use Tonight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480"/>
                </a:solidFill>
                <a:latin typeface="Segoe UI"/>
              </a:rPr>
              <a:t>Simple, works with any book, in any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58952" y="205740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6517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Picture Walk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081528"/>
            <a:ext cx="3078479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Before reading, look at the cover and pictures together and predict what the story will be about.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03775" y="178308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03775" y="17830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59808" y="205740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9808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808" y="26517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Ask &amp; 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9808" y="3081528"/>
            <a:ext cx="3078479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Pause to ask “what happens next?” - then give your child five full seconds to answer.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4632" y="1783080"/>
            <a:ext cx="358140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04632" y="17830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360663" y="2057400"/>
            <a:ext cx="457200" cy="457200"/>
          </a:xfrm>
          <a:prstGeom prst="ellipse">
            <a:avLst/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0663" y="20574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0663" y="26517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Connect to Life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0663" y="3081528"/>
            <a:ext cx="3078479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Link the story to something your child has seen, felt, or done. Memory loves connection.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800600"/>
            <a:ext cx="11183112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50749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038344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Three quick reminders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550408"/>
            <a:ext cx="10744200" cy="4846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262B33"/>
                </a:solidFill>
                <a:latin typeface="Segoe UI"/>
              </a:rPr>
              <a:t>Re-reading a favorite book is not lazy - it builds fluency and confidence.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262B33"/>
                </a:solidFill>
                <a:latin typeface="Segoe UI"/>
              </a:rPr>
              <a:t>Let your child “read” the pictures; storytelling is pre-reading.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0" i="0">
                <a:solidFill>
                  <a:srgbClr val="262B33"/>
                </a:solidFill>
                <a:latin typeface="Segoe UI"/>
              </a:rPr>
              <a:t>If a word is too hard, say it for them and keep the momentum going.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JUST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Matching the Book to Your Child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480"/>
                </a:solidFill>
                <a:latin typeface="Segoe UI"/>
              </a:rPr>
              <a:t>What reading looks like at each stage - and how to help at home.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11183112" cy="37124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572000"/>
                <a:gridCol w="5056632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Grade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reading looks like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you can do at home</a:t>
                      </a:r>
                    </a:p>
                  </a:txBody>
                  <a:tcPr marL="109728" marR="73152" marT="27432" marB="27432" anchor="ctr">
                    <a:solidFill>
                      <a:srgbClr val="1F3A5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Pre-K / K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Letters, sounds, naming pictures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Sing the alphabet, point to words as you read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Grade 1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Sounding out, short decodable books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Read the same book twice; let them sound it out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Grade 2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Smoother sentences, simple chapters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Take turns reading a page each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Grade 3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Reading to learn, longer chapters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Ask “why did that happen?” after each chapter</a:t>
                      </a:r>
                    </a:p>
                  </a:txBody>
                  <a:tcPr marL="109728" marR="73152" marT="27432" marB="27432" anchor="ctr">
                    <a:solidFill>
                      <a:srgbClr val="F3F6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B33"/>
                          </a:solidFill>
                          <a:latin typeface="Segoe UI"/>
                        </a:rPr>
                        <a:t>Grades 4-5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Independent reading, chapter books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B33"/>
                          </a:solidFill>
                          <a:latin typeface="Segoe UI"/>
                        </a:rPr>
                        <a:t>Talk about the book like a movie you both saw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EVERY FAMILY 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Reading Works in Any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4937760" cy="47548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655064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3A5F"/>
                </a:solidFill>
                <a:latin typeface="Segoe UI"/>
              </a:rPr>
              <a:t>Our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1965960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480"/>
                </a:solidFill>
                <a:latin typeface="Segoe UI"/>
              </a:rPr>
              <a:t>Home language across the school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777240" y="2286000"/>
          <a:ext cx="43891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715000" y="1417320"/>
            <a:ext cx="5971032" cy="4754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89320" y="169164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655064"/>
            <a:ext cx="54223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A child who reads at home in any language becomes a stronger reader in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67128"/>
            <a:ext cx="5532120" cy="382219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Read in your strongest language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comprehension and bonding matter more than English.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Talk about the story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describing pictures in any language builds vocabulary.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Bilingual books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are free to borrow from our family resource room.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Interpreters tonight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Spanish and Portuguese support is at the welcome table.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Library cards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staff can sign your family up for Hartford Public Library on the spot.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WE'RE PARTNERS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Resources &amp; The Family Resource 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2" y="18288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24231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Resource 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852928"/>
            <a:ext cx="3078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Borrow books and take-home activity kits. Open 8:00 AM - 3:00 PM, every school day.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3775" y="155448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03775" y="15544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59808" y="18288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9808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9808" y="24231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Library Cards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9808" y="2852928"/>
            <a:ext cx="3078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Sign up for a free Hartford Public Library card tonight - bring a piece of mail.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4632" y="1554480"/>
            <a:ext cx="35814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04632" y="1554480"/>
            <a:ext cx="3581400" cy="82296"/>
          </a:xfrm>
          <a:prstGeom prst="roundRect">
            <a:avLst>
              <a:gd name="adj" fmla="val 50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60663" y="1828800"/>
            <a:ext cx="457200" cy="457200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0663" y="182880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0663" y="2423160"/>
            <a:ext cx="30784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Reading Buddies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0663" y="2852928"/>
            <a:ext cx="3078479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480"/>
                </a:solidFill>
                <a:latin typeface="Segoe UI"/>
              </a:rPr>
              <a:t>Grace Tabernacle volunteers offer weekly 1:1 reading time, fully supervised.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572000"/>
            <a:ext cx="11183112" cy="1645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484632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9744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Take something home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321808"/>
            <a:ext cx="10744200" cy="7132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Take a kit home tonight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each grade has a leveled book bag waiting at the door.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West End grant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an $8,000 neighborhood grant keeps the resource room stocked all year.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Questions any time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call the main office at (860) 555-0300 or stop by before 9:00 AM.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18288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56032"/>
            <a:ext cx="91440" cy="566928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19456"/>
            <a:ext cx="10058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8A24B"/>
                </a:solidFill>
                <a:latin typeface="Segoe UI"/>
              </a:rPr>
              <a:t>MARK YOUR CALENDAR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57200"/>
            <a:ext cx="10789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3A5F"/>
                </a:solidFill>
                <a:latin typeface="Segoe UI"/>
              </a:rPr>
              <a:t>Key Dates This Fall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23160"/>
            <a:ext cx="10881360" cy="32004"/>
          </a:xfrm>
          <a:prstGeom prst="rect">
            <a:avLst/>
          </a:prstGeom>
          <a:solidFill>
            <a:srgbClr val="E2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77340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Oct 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79192"/>
            <a:ext cx="202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Family Literacy Night (tonight!)</a:t>
            </a:r>
          </a:p>
        </p:txBody>
      </p:sp>
      <p:sp>
        <p:nvSpPr>
          <p:cNvPr id="11" name="Oval 10"/>
          <p:cNvSpPr/>
          <p:nvPr/>
        </p:nvSpPr>
        <p:spPr>
          <a:xfrm>
            <a:off x="3790188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8" y="192024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Nov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8" y="2679192"/>
            <a:ext cx="202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Veterans Day Assembly</a:t>
            </a:r>
          </a:p>
        </p:txBody>
      </p:sp>
      <p:sp>
        <p:nvSpPr>
          <p:cNvPr id="14" name="Oval 13"/>
          <p:cNvSpPr/>
          <p:nvPr/>
        </p:nvSpPr>
        <p:spPr>
          <a:xfrm>
            <a:off x="6003036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65775" y="192024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Nov 17-18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5" y="2679192"/>
            <a:ext cx="202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Parent-Teacher Conferences</a:t>
            </a:r>
          </a:p>
        </p:txBody>
      </p:sp>
      <p:sp>
        <p:nvSpPr>
          <p:cNvPr id="17" name="Oval 16"/>
          <p:cNvSpPr/>
          <p:nvPr/>
        </p:nvSpPr>
        <p:spPr>
          <a:xfrm>
            <a:off x="8215883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78624" y="192024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Dec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679192"/>
            <a:ext cx="202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Holiday Concert</a:t>
            </a:r>
          </a:p>
        </p:txBody>
      </p:sp>
      <p:sp>
        <p:nvSpPr>
          <p:cNvPr id="20" name="Oval 19"/>
          <p:cNvSpPr/>
          <p:nvPr/>
        </p:nvSpPr>
        <p:spPr>
          <a:xfrm>
            <a:off x="10428731" y="2377440"/>
            <a:ext cx="155448" cy="155448"/>
          </a:xfrm>
          <a:prstGeom prst="ellipse">
            <a:avLst/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91471" y="1920240"/>
            <a:ext cx="202996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3A5F"/>
                </a:solidFill>
                <a:latin typeface="Segoe UI"/>
              </a:rPr>
              <a:t>Feb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1" y="2679192"/>
            <a:ext cx="202996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6B7480"/>
                </a:solidFill>
                <a:latin typeface="Segoe UI"/>
              </a:rPr>
              <a:t>Winter Family Reading Night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11183112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6EC"/>
            </a:solidFill>
          </a:ln>
          <a:effectLst>
            <a:outerShdw blurRad="90000" dist="40000" dir="5400000" rotWithShape="0">
              <a:srgbClr val="1F3A5F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" y="3886200"/>
            <a:ext cx="73152" cy="274320"/>
          </a:xfrm>
          <a:prstGeom prst="roundRect">
            <a:avLst>
              <a:gd name="adj" fmla="val 50000"/>
            </a:avLst>
          </a:prstGeom>
          <a:solidFill>
            <a:srgbClr val="2E7D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49624"/>
            <a:ext cx="106344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F3A5F"/>
                </a:solidFill>
                <a:latin typeface="Segoe UI"/>
              </a:rPr>
              <a:t>Before you leave tonight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361688"/>
            <a:ext cx="1074420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Conferences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sign up at the table tonight - every family gets a 15-minute slot.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Reading logs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return your child's October log for a free book from the book vending machine.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Stay connected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weekly Friday folder and the school app carry every reminder.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1" i="0">
                <a:solidFill>
                  <a:srgbClr val="2E7D5B"/>
                </a:solidFill>
                <a:latin typeface="Segoe UI"/>
              </a:rPr>
              <a:t>●  </a:t>
            </a:r>
            <a:r>
              <a:rPr sz="1250" b="1" i="0">
                <a:solidFill>
                  <a:srgbClr val="262B33"/>
                </a:solidFill>
                <a:latin typeface="Segoe UI"/>
              </a:rPr>
              <a:t>Your principal's door  </a:t>
            </a:r>
            <a:r>
              <a:rPr sz="1200" b="0" i="0">
                <a:solidFill>
                  <a:srgbClr val="6B7480"/>
                </a:solidFill>
                <a:latin typeface="Segoe UI"/>
              </a:rPr>
              <a:t>is open at 7:00 AM most mornings - come talk reading any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111556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CFDAEA"/>
                </a:solidFill>
                <a:latin typeface="Segoe UI"/>
              </a:rPr>
              <a:t>Bridgeport Avenue Elementary School  ·  Family Literacy Night  ·  October 14, 2026  ·  Shanice R. Giles, Principal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27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128016" cy="914400"/>
          </a:xfrm>
          <a:prstGeom prst="roundRect">
            <a:avLst>
              <a:gd name="adj" fmla="val 50000"/>
            </a:avLst>
          </a:prstGeom>
          <a:solidFill>
            <a:srgbClr val="C8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Thank you for being
your child's first teacher.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71800"/>
            <a:ext cx="96926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Twenty minutes a night. Any book. Any language.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You don't have to be a reading expert - you just have to show up beside them.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D7E0EE"/>
                </a:solidFill>
                <a:latin typeface="Segoe UI"/>
              </a:rPr>
              <a:t>We are partners in your child's reading, all year long.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257800"/>
            <a:ext cx="6949440" cy="868680"/>
          </a:xfrm>
          <a:prstGeom prst="roundRect">
            <a:avLst>
              <a:gd name="adj" fmla="val 12000"/>
            </a:avLst>
          </a:prstGeom>
          <a:solidFill>
            <a:srgbClr val="2444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413248"/>
            <a:ext cx="6583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FFFFFF"/>
                </a:solidFill>
                <a:latin typeface="Segoe UI"/>
              </a:rPr>
              <a:t>Shanice R. Giles, Principal  ·  Bridgeport Avenue Elementary
Main office (860) 555-0300  ·  Family resource room open 8:00 AM - 3:00 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