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Hours</c:v>
                </c:pt>
              </c:strCache>
            </c:strRef>
          </c:tx>
          <c:spPr>
            <a:solidFill>
              <a:srgbClr val="A06CD5"/>
            </a:solidFill>
          </c:spPr>
          <c:cat>
            <c:strRef>
              <c:f>Sheet1!$A$2:$A$4</c:f>
              <c:strCache>
                <c:ptCount val="3"/>
                <c:pt idx="0">
                  <c:v>October</c:v>
                </c:pt>
                <c:pt idx="1">
                  <c:v>November</c:v>
                </c:pt>
                <c:pt idx="2">
                  <c:v>December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4</c:v>
                </c:pt>
                <c:pt idx="2">
                  <c:v>5</c:v>
                </c:pt>
              </c:numCache>
            </c:numRef>
          </c:val>
        </c:ser>
        <c:dLbls>
          <c:txPr>
            <a:bodyPr/>
            <a:lstStyle/>
            <a:p>
              <a:pPr>
                <a:defRPr sz="1400">
                  <a:solidFill>
                    <a:srgbClr val="4A2C55"/>
                  </a:solidFill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120640"/>
            <a:ext cx="12191695" cy="1737360"/>
          </a:xfrm>
          <a:prstGeom prst="rect">
            <a:avLst/>
          </a:prstGeom>
          <a:solidFill>
            <a:srgbClr val="3620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5120640"/>
            <a:ext cx="12191695" cy="91440"/>
          </a:xfrm>
          <a:prstGeom prst="rect">
            <a:avLst/>
          </a:prstGeom>
          <a:solidFill>
            <a:srgbClr val="E88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4200" b="1" i="0">
                <a:solidFill>
                  <a:srgbClr val="F7F3F9"/>
                </a:solidFill>
                <a:latin typeface="Georgia"/>
              </a:rPr>
              <a:t>An Afternoon of Chamber Music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 i="1">
                <a:solidFill>
                  <a:srgbClr val="E88FB0"/>
                </a:solidFill>
                <a:latin typeface="Georgia"/>
              </a:rPr>
              <a:t>Season planning for the trio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39496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700" b="0" i="0">
                <a:solidFill>
                  <a:srgbClr val="F7F3F9"/>
                </a:solidFill>
                <a:latin typeface="Georgia"/>
              </a:rPr>
              <a:t>Nicole King, piano  |  Lena Parker, violin  |  David Chen, cello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A1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47395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E88FB0"/>
                </a:solidFill>
                <a:latin typeface="Calibri"/>
              </a:rPr>
              <a:t>The trio  |  Season planning  |  Park Slope, Brooklyn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4A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200" b="1" i="0">
                <a:solidFill>
                  <a:srgbClr val="4A2C55"/>
                </a:solidFill>
                <a:latin typeface="Georgia"/>
              </a:rPr>
              <a:t>Agenda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1234440"/>
            <a:ext cx="3200400" cy="54864"/>
          </a:xfrm>
          <a:prstGeom prst="rect">
            <a:avLst/>
          </a:prstGeom>
          <a:solidFill>
            <a:srgbClr val="E88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200" b="1">
                <a:solidFill>
                  <a:srgbClr val="2C2233"/>
                </a:solidFill>
                <a:latin typeface="Calibri"/>
              </a:rPr>
              <a:t>- Where we left off last season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2C2233"/>
                </a:solidFill>
                <a:latin typeface="Calibri"/>
              </a:rPr>
              <a:t>- Repertoire under consideration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2C2233"/>
                </a:solidFill>
                <a:latin typeface="Calibri"/>
              </a:rPr>
              <a:t>- Rehearsal cadence and venues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2C2233"/>
                </a:solidFill>
                <a:latin typeface="Calibri"/>
              </a:rPr>
              <a:t>- Target performances</a:t>
            </a:r>
          </a:p>
          <a:p>
            <a:pPr>
              <a:spcAft>
                <a:spcPts val="800"/>
              </a:spcAft>
            </a:pPr>
            <a:r>
              <a:rPr sz="2200" b="1">
                <a:solidFill>
                  <a:srgbClr val="2C2233"/>
                </a:solidFill>
                <a:latin typeface="Calibri"/>
              </a:rPr>
              <a:t>- Division of preparation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A1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647395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E88FB0"/>
                </a:solidFill>
                <a:latin typeface="Calibri"/>
              </a:rPr>
              <a:t>The trio  |  Season planning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7F3F9"/>
                </a:solidFill>
                <a:latin typeface="Georgia"/>
              </a:rPr>
              <a:t>Repertoire Under Consideration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 b="1">
                <a:solidFill>
                  <a:srgbClr val="2C2233"/>
                </a:solidFill>
                <a:latin typeface="Calibri"/>
              </a:rPr>
              <a:t>- Schubert Notturno in E flat, Op. 148, as a season opener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C2233"/>
                </a:solidFill>
                <a:latin typeface="Calibri"/>
              </a:rPr>
              <a:t>- Ravel Piano Trio in A minor, the long-term project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C2233"/>
                </a:solidFill>
                <a:latin typeface="Calibri"/>
              </a:rPr>
              <a:t>- Carrying forward Brahms Piano Trio No. 1 from last season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C2233"/>
                </a:solidFill>
                <a:latin typeface="Calibri"/>
              </a:rPr>
              <a:t>- Mendelssohn Trio No. 1 in D minor as a contrast piece</a:t>
            </a:r>
          </a:p>
          <a:p>
            <a:pPr>
              <a:spcAft>
                <a:spcPts val="800"/>
              </a:spcAft>
            </a:pPr>
            <a:r>
              <a:rPr sz="2000" b="1">
                <a:solidFill>
                  <a:srgbClr val="2C2233"/>
                </a:solidFill>
                <a:latin typeface="Calibri"/>
              </a:rPr>
              <a:t>- A short holiday program for the December community date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A1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E88FB0"/>
                </a:solidFill>
                <a:latin typeface="Calibri"/>
              </a:rPr>
              <a:t>The trio  |  Season planning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600" b="1" i="0">
                <a:solidFill>
                  <a:srgbClr val="F7F3F9"/>
                </a:solidFill>
                <a:latin typeface="Georgia"/>
              </a:rPr>
              <a:t>Rehearsal and Performance Calendar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554480"/>
          <a:ext cx="103327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377440"/>
                <a:gridCol w="5212080"/>
              </a:tblGrid>
              <a:tr h="685800"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7F3F9"/>
                          </a:solidFill>
                        </a:defRPr>
                      </a:pPr>
                      <a:r>
                        <a:t>Date</a:t>
                      </a:r>
                    </a:p>
                  </a:txBody>
                  <a:tcPr>
                    <a:solidFill>
                      <a:srgbClr val="4A2C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7F3F9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4A2C55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 b="1">
                          <a:solidFill>
                            <a:srgbClr val="F7F3F9"/>
                          </a:solidFill>
                        </a:defRPr>
                      </a:pPr>
                      <a:r>
                        <a:t>Focus</a:t>
                      </a:r>
                    </a:p>
                  </a:txBody>
                  <a:tcPr>
                    <a:solidFill>
                      <a:srgbClr val="4A2C55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C2233"/>
                          </a:solidFill>
                        </a:defRPr>
                      </a:pPr>
                      <a:r>
                        <a:t>October 4,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C2233"/>
                          </a:solidFill>
                        </a:defRPr>
                      </a:pPr>
                      <a:r>
                        <a:t>Rehearsal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C2233"/>
                          </a:solidFill>
                        </a:defRPr>
                      </a:pPr>
                      <a:r>
                        <a:t>Schubert Notturno, season planning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C2233"/>
                          </a:solidFill>
                        </a:defRPr>
                      </a:pPr>
                      <a:r>
                        <a:t>November 1, 2026</a:t>
                      </a:r>
                    </a:p>
                  </a:txBody>
                  <a:tcPr>
                    <a:solidFill>
                      <a:srgbClr val="F0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C2233"/>
                          </a:solidFill>
                        </a:defRPr>
                      </a:pPr>
                      <a:r>
                        <a:t>Rehearsal</a:t>
                      </a:r>
                    </a:p>
                  </a:txBody>
                  <a:tcPr>
                    <a:solidFill>
                      <a:srgbClr val="F0E6F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C2233"/>
                          </a:solidFill>
                        </a:defRPr>
                      </a:pPr>
                      <a:r>
                        <a:t>Schubert and Ravel</a:t>
                      </a:r>
                    </a:p>
                  </a:txBody>
                  <a:tcPr>
                    <a:solidFill>
                      <a:srgbClr val="F0E6F4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C2233"/>
                          </a:solidFill>
                        </a:defRPr>
                      </a:pPr>
                      <a:r>
                        <a:t>December 6,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C2233"/>
                          </a:solidFill>
                        </a:defRPr>
                      </a:pPr>
                      <a:r>
                        <a:t>Rehearsal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500">
                          <a:solidFill>
                            <a:srgbClr val="2C2233"/>
                          </a:solidFill>
                        </a:defRPr>
                      </a:pPr>
                      <a:r>
                        <a:t>Holiday program preparation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A1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E88FB0"/>
                </a:solidFill>
                <a:latin typeface="Calibri"/>
              </a:rPr>
              <a:t>The trio  |  Monthly rehearsals at the Park Slope apartment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4A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56032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800" b="1" i="0">
                <a:solidFill>
                  <a:srgbClr val="F7F3F9"/>
                </a:solidFill>
                <a:latin typeface="Georgia"/>
              </a:rPr>
              <a:t>Planned Rehearsal Hours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1371600" y="1371600"/>
          <a:ext cx="9418320" cy="45720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0" y="6446520"/>
            <a:ext cx="12191695" cy="411480"/>
          </a:xfrm>
          <a:prstGeom prst="rect">
            <a:avLst/>
          </a:prstGeom>
          <a:solidFill>
            <a:srgbClr val="2A18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6473952"/>
            <a:ext cx="1143000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000" b="0" i="0">
                <a:solidFill>
                  <a:srgbClr val="E88FB0"/>
                </a:solidFill>
                <a:latin typeface="Calibri"/>
              </a:rPr>
              <a:t>The trio  |  Season planning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4A2C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2191695" cy="91440"/>
          </a:xfrm>
          <a:prstGeom prst="rect">
            <a:avLst/>
          </a:prstGeom>
          <a:solidFill>
            <a:srgbClr val="E88F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377440"/>
            <a:ext cx="106984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200" b="1" i="0">
                <a:solidFill>
                  <a:srgbClr val="F7F3F9"/>
                </a:solidFill>
                <a:latin typeface="Georgia"/>
              </a:rPr>
              <a:t>Two to three performances, one room at a time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38328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600" b="0" i="0">
                <a:solidFill>
                  <a:srgbClr val="E88FB0"/>
                </a:solidFill>
                <a:latin typeface="Georgia"/>
              </a:rPr>
              <a:t>Nicole, Lena, and David  |  Park Slope Community Center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Chamber Music Season Planning</dc:title>
  <dc:subject/>
  <dc:creator>Nicole King</dc:creator>
  <cp:keywords/>
  <dc:description/>
  <cp:lastModifiedBy/>
  <cp:revision>1</cp:revision>
  <dcterms:created xsi:type="dcterms:W3CDTF">2026-02-25T19:00:00Z</dcterms:created>
  <dcterms:modified xsi:type="dcterms:W3CDTF">2013-01-27T09:15:58Z</dcterms:modified>
  <cp:category/>
</cp:coreProperties>
</file>